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2"/>
    <p:sldId id="290" r:id="rId3"/>
    <p:sldId id="291" r:id="rId4"/>
    <p:sldId id="306" r:id="rId5"/>
    <p:sldId id="285" r:id="rId6"/>
    <p:sldId id="292" r:id="rId7"/>
    <p:sldId id="256" r:id="rId8"/>
    <p:sldId id="293" r:id="rId9"/>
    <p:sldId id="294" r:id="rId10"/>
    <p:sldId id="272" r:id="rId11"/>
    <p:sldId id="284" r:id="rId12"/>
    <p:sldId id="295" r:id="rId13"/>
    <p:sldId id="269" r:id="rId14"/>
    <p:sldId id="287" r:id="rId15"/>
    <p:sldId id="296" r:id="rId16"/>
    <p:sldId id="270" r:id="rId17"/>
    <p:sldId id="288" r:id="rId18"/>
    <p:sldId id="297" r:id="rId19"/>
    <p:sldId id="268" r:id="rId20"/>
    <p:sldId id="278" r:id="rId21"/>
    <p:sldId id="298" r:id="rId22"/>
    <p:sldId id="271" r:id="rId23"/>
    <p:sldId id="279" r:id="rId24"/>
    <p:sldId id="299" r:id="rId25"/>
    <p:sldId id="267" r:id="rId26"/>
    <p:sldId id="277" r:id="rId27"/>
    <p:sldId id="300" r:id="rId28"/>
    <p:sldId id="301" r:id="rId29"/>
    <p:sldId id="257" r:id="rId30"/>
    <p:sldId id="302" r:id="rId31"/>
    <p:sldId id="303" r:id="rId32"/>
    <p:sldId id="304" r:id="rId33"/>
    <p:sldId id="305" r:id="rId3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3"/>
    <p:restoredTop sz="94637"/>
  </p:normalViewPr>
  <p:slideViewPr>
    <p:cSldViewPr snapToGrid="0">
      <p:cViewPr varScale="1">
        <p:scale>
          <a:sx n="103" d="100"/>
          <a:sy n="103" d="100"/>
        </p:scale>
        <p:origin x="10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64C7-BF0A-C1A2-CEB9-79167F0D9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7EE0B-8FAE-2EBD-C405-D082CFCAE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C819B-1D1C-6A93-51BD-DAACB399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22E7-3D6E-30FA-DA88-0221639B6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9A487-6BB0-26B3-C9A7-8AC10735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6694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440B0-7A94-63F5-116A-53303F50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8F1F8-0FA9-22CE-34ED-9FFBAE0C1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3A2A4-57F9-A0EB-279D-FB24F7BC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5FCCB-8A17-854B-1198-7889D0BC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A0BDE-8683-A00E-1F22-E865EE7D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86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6E6A-B7F0-F9E4-72FA-27AAEA2C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4DE2D-36A5-2C47-0547-E9499DC16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E5593-0CDA-A787-7C0C-09D53E57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49165-1999-D590-5231-60218980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003B7-D8DC-E8B8-F7EA-92A0EF2B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07135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A7CA2-8095-B5FB-B4DF-AD68A3DD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6C668-A59F-A71C-DB3F-0CFBC6DB8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45CB2-17BD-C3FD-DA6E-B56B72963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5C39B-D2FA-A5D0-5AD3-56D61DFB3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C61FE-FCBF-5BD8-E6E1-9DA51872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E4112-8FF8-2661-FA50-B6BEE45A8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369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7A9B-E0BF-6AF8-C6BA-05C547CC2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DA38D-05E1-070E-8770-0D44049DD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584C6-73B7-4D9F-7A6B-2F4A5EB40F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1A610-DDEC-8639-9158-CB2A48B0C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84643-66EA-9BA1-BB45-65D38DFC1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E801FA-F2CA-601D-8043-8D468B1A1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2531C-4608-C34A-8EE5-0706A46E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E96E94-4466-6EF0-A9DD-1FC1DF5A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0935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8C0C-18EB-9396-FF1B-D988547A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ACE53-1241-4B65-10A0-4E522B1B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31C91-75F4-871F-AC78-DB7E83C00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7630C-BA77-96E3-5B69-745DBDC1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30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ADE02-AEFE-FB72-A691-823F90C7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7BC876-F844-88A4-5A0D-54C6E735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1BE64-AF73-8383-5BD4-3886335C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612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31E0F-88EA-C0BD-141A-535EA235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73721-BDD8-89DA-F712-1A0B04075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6D759-EC09-3054-FDF3-E6E8D3062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BE037-A231-25CB-912F-34B79B99D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3709C-BC2D-D5F8-35E7-7E77F4EC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E6261-D4F4-14A7-35C0-09DCB0D4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08656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DCF1-1288-6817-4D9B-8164B961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5A8501-4F50-3FA8-6694-867BBCF14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9A36B-9E5E-72C7-D70A-85F0377FD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5246B-5F12-3E51-26B8-941FE731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39686-0809-CB6D-1446-D97EACA7D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F5424-546D-09F1-BD8E-9D79A3FD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4538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8E75-2430-1145-3C60-41306A70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F5A03-AD8B-CF41-0CE5-5DDD449DB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18A1-E3EB-7B49-5B46-F7612131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6CB42-4299-5527-CDE8-9993790D3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AC18A-506B-0427-AAC8-33A40A32D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9220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FC5CCD-0B8D-FA8E-EB49-E47C6D01C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4D41D-A369-B3BE-F534-77415CF69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C18BC-3607-047E-8F06-6576B5E97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278B1-C3BF-D053-C819-F2376D96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8FFB1-7954-166B-F118-C3825669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098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00A903-3267-5874-97EE-C2744AB5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F7F14-9714-779A-4099-889B73217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05AA8-99F0-C88C-878F-5D3CF78DB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D456C-9149-DF4D-A60C-9FE86B828F16}" type="datetimeFigureOut">
              <a:rPr lang="en-IL" smtClean="0"/>
              <a:t>17/07/2025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AE993-ADE9-B4F0-7FB8-BC467F8F7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3FF06-19F1-4D74-F138-68E796BCD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14B0A-D5AE-594C-A6AF-571204E0EBA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5115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19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19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19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19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image" Target="../media/image75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1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" Type="http://schemas.openxmlformats.org/officeDocument/2006/relationships/image" Target="../media/image93.png"/><Relationship Id="rId16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" Type="http://schemas.openxmlformats.org/officeDocument/2006/relationships/image" Target="../media/image19.png"/><Relationship Id="rId16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image" Target="../media/image19.png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18" Type="http://schemas.openxmlformats.org/officeDocument/2006/relationships/image" Target="../media/image16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17" Type="http://schemas.openxmlformats.org/officeDocument/2006/relationships/image" Target="../media/image161.png"/><Relationship Id="rId2" Type="http://schemas.openxmlformats.org/officeDocument/2006/relationships/image" Target="../media/image19.png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5" Type="http://schemas.openxmlformats.org/officeDocument/2006/relationships/image" Target="../media/image15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Relationship Id="rId14" Type="http://schemas.openxmlformats.org/officeDocument/2006/relationships/image" Target="../media/image15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18" Type="http://schemas.openxmlformats.org/officeDocument/2006/relationships/image" Target="../media/image180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17" Type="http://schemas.openxmlformats.org/officeDocument/2006/relationships/image" Target="../media/image179.png"/><Relationship Id="rId2" Type="http://schemas.openxmlformats.org/officeDocument/2006/relationships/image" Target="../media/image19.png"/><Relationship Id="rId16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5" Type="http://schemas.openxmlformats.org/officeDocument/2006/relationships/image" Target="../media/image17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13" Type="http://schemas.openxmlformats.org/officeDocument/2006/relationships/image" Target="../media/image194.png"/><Relationship Id="rId18" Type="http://schemas.openxmlformats.org/officeDocument/2006/relationships/image" Target="../media/image19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12" Type="http://schemas.openxmlformats.org/officeDocument/2006/relationships/image" Target="../media/image193.png"/><Relationship Id="rId17" Type="http://schemas.openxmlformats.org/officeDocument/2006/relationships/image" Target="../media/image198.png"/><Relationship Id="rId2" Type="http://schemas.openxmlformats.org/officeDocument/2006/relationships/image" Target="../media/image183.png"/><Relationship Id="rId16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png"/><Relationship Id="rId11" Type="http://schemas.openxmlformats.org/officeDocument/2006/relationships/image" Target="../media/image192.png"/><Relationship Id="rId5" Type="http://schemas.openxmlformats.org/officeDocument/2006/relationships/image" Target="../media/image186.png"/><Relationship Id="rId15" Type="http://schemas.openxmlformats.org/officeDocument/2006/relationships/image" Target="../media/image196.png"/><Relationship Id="rId10" Type="http://schemas.openxmlformats.org/officeDocument/2006/relationships/image" Target="../media/image191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Relationship Id="rId14" Type="http://schemas.openxmlformats.org/officeDocument/2006/relationships/image" Target="../media/image19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C1508-81C5-04D1-3687-078EE7A12A44}"/>
              </a:ext>
            </a:extLst>
          </p:cNvPr>
          <p:cNvSpPr txBox="1"/>
          <p:nvPr/>
        </p:nvSpPr>
        <p:spPr>
          <a:xfrm>
            <a:off x="9050943" y="370702"/>
            <a:ext cx="2613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dirty="0">
                <a:highlight>
                  <a:srgbClr val="FFFF00"/>
                </a:highlight>
              </a:rPr>
              <a:t>דוגמא שמופיעה לפני הניסוי</a:t>
            </a:r>
            <a:endParaRPr lang="en-IL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5E7259-6DFA-1817-1658-1C773DE63873}"/>
              </a:ext>
            </a:extLst>
          </p:cNvPr>
          <p:cNvSpPr txBox="1"/>
          <p:nvPr/>
        </p:nvSpPr>
        <p:spPr>
          <a:xfrm>
            <a:off x="703117" y="591400"/>
            <a:ext cx="1520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OS</a:t>
            </a:r>
            <a:r>
              <a:rPr lang="en-US" dirty="0"/>
              <a:t>-</a:t>
            </a:r>
            <a:r>
              <a:rPr lang="he-IL" dirty="0"/>
              <a:t>1378</a:t>
            </a:r>
            <a:endParaRPr lang="en-US" dirty="0"/>
          </a:p>
          <a:p>
            <a:pPr marL="0" algn="l" defTabSz="914400" eaLnBrk="1" latinLnBrk="0" hangingPunct="1"/>
            <a:r>
              <a:rPr lang="en-US" dirty="0" err="1"/>
              <a:t>center_single</a:t>
            </a:r>
            <a:endParaRPr lang="en-US" dirty="0"/>
          </a:p>
          <a:p>
            <a:pPr marL="0" algn="l" defTabSz="914400" eaLnBrk="1" latinLnBrk="0" hangingPunct="1"/>
            <a:r>
              <a:rPr lang="he-IL" dirty="0" err="1"/>
              <a:t>os</a:t>
            </a:r>
            <a:r>
              <a:rPr lang="he-IL" dirty="0"/>
              <a:t> </a:t>
            </a:r>
            <a:r>
              <a:rPr lang="en-US" dirty="0"/>
              <a:t>pred: </a:t>
            </a:r>
            <a:r>
              <a:rPr lang="he-IL" dirty="0"/>
              <a:t>5</a:t>
            </a:r>
          </a:p>
          <a:p>
            <a:pPr marL="0" algn="l" defTabSz="914400" eaLnBrk="1" latinLnBrk="0" hangingPunct="1"/>
            <a:r>
              <a:rPr lang="he-IL" dirty="0" err="1"/>
              <a:t>llm</a:t>
            </a:r>
            <a:r>
              <a:rPr lang="he-IL" dirty="0"/>
              <a:t> </a:t>
            </a:r>
            <a:r>
              <a:rPr lang="he-IL" dirty="0" err="1"/>
              <a:t>pred</a:t>
            </a:r>
            <a:r>
              <a:rPr lang="he-IL" dirty="0"/>
              <a:t>:</a:t>
            </a:r>
            <a:r>
              <a:rPr lang="en-US" dirty="0"/>
              <a:t> 0</a:t>
            </a:r>
          </a:p>
          <a:p>
            <a:pPr marL="0" algn="l" defTabSz="914400" eaLnBrk="1" latinLnBrk="0" hangingPunct="1"/>
            <a:r>
              <a:rPr lang="en-US" dirty="0"/>
              <a:t>true: </a:t>
            </a:r>
            <a:r>
              <a:rPr lang="he-IL" dirty="0"/>
              <a:t>3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B166EC-B439-32C8-B43F-E691EFD14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437" y="555368"/>
            <a:ext cx="3490224" cy="3496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F2CD41-7834-DB76-4D8C-92AB505A8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349" y="4639201"/>
            <a:ext cx="7772400" cy="120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2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triangle with yellow and green squares&#10;&#10;AI-generated content may be incorrect.">
            <a:extLst>
              <a:ext uri="{FF2B5EF4-FFF2-40B4-BE49-F238E27FC236}">
                <a16:creationId xmlns:a16="http://schemas.microsoft.com/office/drawing/2014/main" id="{C0311992-1BE8-F681-01FC-777270DA4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199" y="291201"/>
            <a:ext cx="1173672" cy="1173672"/>
          </a:xfrm>
          <a:prstGeom prst="rect">
            <a:avLst/>
          </a:prstGeom>
        </p:spPr>
      </p:pic>
      <p:pic>
        <p:nvPicPr>
          <p:cNvPr id="5" name="Picture 4" descr="A blue hexagon with yellow and green squares&#10;&#10;AI-generated content may be incorrect.">
            <a:extLst>
              <a:ext uri="{FF2B5EF4-FFF2-40B4-BE49-F238E27FC236}">
                <a16:creationId xmlns:a16="http://schemas.microsoft.com/office/drawing/2014/main" id="{1361B604-1CCD-1FAE-B52D-EC73DA380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508" y="293298"/>
            <a:ext cx="1173672" cy="1173672"/>
          </a:xfrm>
          <a:prstGeom prst="rect">
            <a:avLst/>
          </a:prstGeom>
        </p:spPr>
      </p:pic>
      <p:pic>
        <p:nvPicPr>
          <p:cNvPr id="7" name="Picture 6" descr="A blue circle with yellow center&#10;&#10;AI-generated content may be incorrect.">
            <a:extLst>
              <a:ext uri="{FF2B5EF4-FFF2-40B4-BE49-F238E27FC236}">
                <a16:creationId xmlns:a16="http://schemas.microsoft.com/office/drawing/2014/main" id="{7AEEA31F-0A36-F660-7CBD-166ED424A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17" y="293298"/>
            <a:ext cx="1173672" cy="1173672"/>
          </a:xfrm>
          <a:prstGeom prst="rect">
            <a:avLst/>
          </a:prstGeom>
        </p:spPr>
      </p:pic>
      <p:pic>
        <p:nvPicPr>
          <p:cNvPr id="9" name="Picture 8" descr="A triangle in a blue background&#10;&#10;AI-generated content may be incorrect.">
            <a:extLst>
              <a:ext uri="{FF2B5EF4-FFF2-40B4-BE49-F238E27FC236}">
                <a16:creationId xmlns:a16="http://schemas.microsoft.com/office/drawing/2014/main" id="{E8195FF8-2968-B9AF-07B7-8D7E29F01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199" y="1532746"/>
            <a:ext cx="1173672" cy="1173672"/>
          </a:xfrm>
          <a:prstGeom prst="rect">
            <a:avLst/>
          </a:prstGeom>
        </p:spPr>
      </p:pic>
      <p:pic>
        <p:nvPicPr>
          <p:cNvPr id="11" name="Picture 10" descr="A blue and yellow square with a hexagon&#10;&#10;AI-generated content may be incorrect.">
            <a:extLst>
              <a:ext uri="{FF2B5EF4-FFF2-40B4-BE49-F238E27FC236}">
                <a16:creationId xmlns:a16="http://schemas.microsoft.com/office/drawing/2014/main" id="{BE9B9C3E-BD46-2FF0-2D51-F3EDA57F79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508" y="1552275"/>
            <a:ext cx="1173672" cy="1173672"/>
          </a:xfrm>
          <a:prstGeom prst="rect">
            <a:avLst/>
          </a:prstGeom>
        </p:spPr>
      </p:pic>
      <p:pic>
        <p:nvPicPr>
          <p:cNvPr id="13" name="Picture 12" descr="A colorful image of a circle&#10;&#10;AI-generated content may be incorrect.">
            <a:extLst>
              <a:ext uri="{FF2B5EF4-FFF2-40B4-BE49-F238E27FC236}">
                <a16:creationId xmlns:a16="http://schemas.microsoft.com/office/drawing/2014/main" id="{B67B751A-A30C-EAB4-B83B-B780FACA7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5817" y="1552275"/>
            <a:ext cx="1173672" cy="1173672"/>
          </a:xfrm>
          <a:prstGeom prst="rect">
            <a:avLst/>
          </a:prstGeom>
        </p:spPr>
      </p:pic>
      <p:pic>
        <p:nvPicPr>
          <p:cNvPr id="15" name="Picture 14" descr="A triangle with a yellow center&#10;&#10;AI-generated content may be incorrect.">
            <a:extLst>
              <a:ext uri="{FF2B5EF4-FFF2-40B4-BE49-F238E27FC236}">
                <a16:creationId xmlns:a16="http://schemas.microsoft.com/office/drawing/2014/main" id="{70692BE9-AAF0-0B2C-C326-185C4039C3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199" y="2842164"/>
            <a:ext cx="1173672" cy="1173672"/>
          </a:xfrm>
          <a:prstGeom prst="rect">
            <a:avLst/>
          </a:prstGeom>
        </p:spPr>
      </p:pic>
      <p:pic>
        <p:nvPicPr>
          <p:cNvPr id="17" name="Picture 16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7D9FD793-5525-5955-FFD7-2DFA37B678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508" y="2798312"/>
            <a:ext cx="1173672" cy="1173672"/>
          </a:xfrm>
          <a:prstGeom prst="rect">
            <a:avLst/>
          </a:prstGeom>
        </p:spPr>
      </p:pic>
      <p:pic>
        <p:nvPicPr>
          <p:cNvPr id="36" name="Picture 35" descr="A blue circle with yellow and blue squares&#10;&#10;AI-generated content may be incorrect.">
            <a:extLst>
              <a:ext uri="{FF2B5EF4-FFF2-40B4-BE49-F238E27FC236}">
                <a16:creationId xmlns:a16="http://schemas.microsoft.com/office/drawing/2014/main" id="{F645B9E0-27C9-B167-BCA6-BC4E86EBCA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999" y="4461293"/>
            <a:ext cx="1249872" cy="1249872"/>
          </a:xfrm>
          <a:prstGeom prst="rect">
            <a:avLst/>
          </a:prstGeom>
        </p:spPr>
      </p:pic>
      <p:pic>
        <p:nvPicPr>
          <p:cNvPr id="37" name="Picture 36" descr="A colorful hexagon with a yellow center&#10;&#10;AI-generated content may be incorrect.">
            <a:extLst>
              <a:ext uri="{FF2B5EF4-FFF2-40B4-BE49-F238E27FC236}">
                <a16:creationId xmlns:a16="http://schemas.microsoft.com/office/drawing/2014/main" id="{E749A9CC-758D-8215-4346-5F0CD93F09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1738" y="4462730"/>
            <a:ext cx="1249872" cy="1249872"/>
          </a:xfrm>
          <a:prstGeom prst="rect">
            <a:avLst/>
          </a:prstGeom>
        </p:spPr>
      </p:pic>
      <p:pic>
        <p:nvPicPr>
          <p:cNvPr id="38" name="Picture 37" descr="A blue circle with yellow center&#10;&#10;AI-generated content may be incorrect.">
            <a:extLst>
              <a:ext uri="{FF2B5EF4-FFF2-40B4-BE49-F238E27FC236}">
                <a16:creationId xmlns:a16="http://schemas.microsoft.com/office/drawing/2014/main" id="{01EE77B8-CB34-974C-4BE3-E2DBB6F1F9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7319" y="4461293"/>
            <a:ext cx="1249872" cy="1249872"/>
          </a:xfrm>
          <a:prstGeom prst="rect">
            <a:avLst/>
          </a:prstGeom>
        </p:spPr>
      </p:pic>
      <p:pic>
        <p:nvPicPr>
          <p:cNvPr id="39" name="Picture 38" descr="A blue circle with yellow center&#10;&#10;AI-generated content may be incorrect.">
            <a:extLst>
              <a:ext uri="{FF2B5EF4-FFF2-40B4-BE49-F238E27FC236}">
                <a16:creationId xmlns:a16="http://schemas.microsoft.com/office/drawing/2014/main" id="{40F66BB7-357B-660B-C6ED-4A606758A1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3058" y="4461293"/>
            <a:ext cx="1249872" cy="1249872"/>
          </a:xfrm>
          <a:prstGeom prst="rect">
            <a:avLst/>
          </a:prstGeom>
        </p:spPr>
      </p:pic>
      <p:pic>
        <p:nvPicPr>
          <p:cNvPr id="40" name="Picture 39" descr="A colorful circle in a square&#10;&#10;AI-generated content may be incorrect.">
            <a:extLst>
              <a:ext uri="{FF2B5EF4-FFF2-40B4-BE49-F238E27FC236}">
                <a16:creationId xmlns:a16="http://schemas.microsoft.com/office/drawing/2014/main" id="{EBB9609F-68B6-81DD-090B-70EC383D9D2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4417" y="4461293"/>
            <a:ext cx="1249872" cy="1249872"/>
          </a:xfrm>
          <a:prstGeom prst="rect">
            <a:avLst/>
          </a:prstGeom>
        </p:spPr>
      </p:pic>
      <p:pic>
        <p:nvPicPr>
          <p:cNvPr id="41" name="Picture 40" descr="A blue circle in a square&#10;&#10;AI-generated content may be incorrect.">
            <a:extLst>
              <a:ext uri="{FF2B5EF4-FFF2-40B4-BE49-F238E27FC236}">
                <a16:creationId xmlns:a16="http://schemas.microsoft.com/office/drawing/2014/main" id="{2919D9B8-2EA2-195E-8E4D-756AD55D1CE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9998" y="4461293"/>
            <a:ext cx="1249872" cy="1249872"/>
          </a:xfrm>
          <a:prstGeom prst="rect">
            <a:avLst/>
          </a:prstGeom>
        </p:spPr>
      </p:pic>
      <p:pic>
        <p:nvPicPr>
          <p:cNvPr id="42" name="Picture 41" descr="A colorful square with a black square in the middle&#10;&#10;AI-generated content may be incorrect.">
            <a:extLst>
              <a:ext uri="{FF2B5EF4-FFF2-40B4-BE49-F238E27FC236}">
                <a16:creationId xmlns:a16="http://schemas.microsoft.com/office/drawing/2014/main" id="{66163717-13C3-347B-1E61-14FE6BEDFC6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91357" y="4461293"/>
            <a:ext cx="1249872" cy="1249872"/>
          </a:xfrm>
          <a:prstGeom prst="rect">
            <a:avLst/>
          </a:prstGeom>
        </p:spPr>
      </p:pic>
      <p:pic>
        <p:nvPicPr>
          <p:cNvPr id="43" name="Picture 42" descr="A colorful circle in a square&#10;&#10;AI-generated content may be incorrect.">
            <a:extLst>
              <a:ext uri="{FF2B5EF4-FFF2-40B4-BE49-F238E27FC236}">
                <a16:creationId xmlns:a16="http://schemas.microsoft.com/office/drawing/2014/main" id="{83825914-DECA-1D03-EC92-8BE34D4A724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69906" y="4461293"/>
            <a:ext cx="1249872" cy="124987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97EC936-CA9C-8A8A-89F3-FC6EE347966F}"/>
              </a:ext>
            </a:extLst>
          </p:cNvPr>
          <p:cNvSpPr txBox="1"/>
          <p:nvPr/>
        </p:nvSpPr>
        <p:spPr>
          <a:xfrm>
            <a:off x="1449787" y="5831142"/>
            <a:ext cx="946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1                         2                            3                           4                            5                           6                       7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  <p:pic>
        <p:nvPicPr>
          <p:cNvPr id="46" name="Picture 4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9647672D-3E96-64F7-8735-B1FF6F11FD5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31706" y="657526"/>
            <a:ext cx="838200" cy="26670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3EE9537-2EB8-070E-9B21-39233805322A}"/>
              </a:ext>
            </a:extLst>
          </p:cNvPr>
          <p:cNvSpPr txBox="1"/>
          <p:nvPr/>
        </p:nvSpPr>
        <p:spPr>
          <a:xfrm>
            <a:off x="500332" y="380527"/>
            <a:ext cx="29269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L" sz="1200" dirty="0"/>
              <a:t>ה</a:t>
            </a:r>
            <a:r>
              <a:rPr lang="he-IL" sz="1200" dirty="0"/>
              <a:t>סבר: אם ננתח את הפיקסלים האדומים בכל תשובה אפשרית לחידה ניתן לראות שהמודל מחפש צורת עיגול(בעיקר בולט בתשובה 1,6 שלכן נפסלות). מעבר לכך, ניתן להבחין כי הוא מחפש עיגול בגודל </a:t>
            </a:r>
            <a:r>
              <a:rPr lang="he-IL" sz="1200" dirty="0" err="1"/>
              <a:t>מסויים</a:t>
            </a:r>
            <a:r>
              <a:rPr lang="he-IL" sz="1200" dirty="0"/>
              <a:t>, ולכן תשובה 7 נפסלת.</a:t>
            </a:r>
          </a:p>
          <a:p>
            <a:pPr algn="r"/>
            <a:r>
              <a:rPr lang="he-IL" sz="1200" dirty="0"/>
              <a:t>לבסוף, ניתן להבחין כי תשובה 5 היא הנכונה לפי היגיון המודל כי הוא מצא בה הכי הרבה פיקסלים שחשובים לדעתו.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309103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E60AFC-6735-D29C-5C78-35E80EF65C31}"/>
              </a:ext>
            </a:extLst>
          </p:cNvPr>
          <p:cNvSpPr txBox="1"/>
          <p:nvPr/>
        </p:nvSpPr>
        <p:spPr>
          <a:xfrm>
            <a:off x="544794" y="265506"/>
            <a:ext cx="609742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200" dirty="0"/>
              <a:t>Row Pattern Analysis:</a:t>
            </a:r>
          </a:p>
          <a:p>
            <a:r>
              <a:rPr lang="en-IL" sz="1200" dirty="0"/>
              <a:t>- Row 1: Dark triangle → Dark pentagon → Dark circle</a:t>
            </a:r>
          </a:p>
          <a:p>
            <a:r>
              <a:rPr lang="en-IL" sz="1200" dirty="0"/>
              <a:t>- Row 2: Light triangle → Light pentagon → Light circle  </a:t>
            </a:r>
          </a:p>
          <a:p>
            <a:r>
              <a:rPr lang="en-IL" sz="1200" dirty="0"/>
              <a:t>- Row 3: Dark triangle → Dark pentagon → ?</a:t>
            </a:r>
          </a:p>
          <a:p>
            <a:endParaRPr lang="en-IL" sz="1200" dirty="0"/>
          </a:p>
          <a:p>
            <a:r>
              <a:rPr lang="en-IL" sz="1200" dirty="0"/>
              <a:t>Column Pattern Analysis:</a:t>
            </a:r>
          </a:p>
          <a:p>
            <a:r>
              <a:rPr lang="en-IL" sz="1200" dirty="0"/>
              <a:t>- Column 1: Dark triangle → Light triangle → Dark triangle</a:t>
            </a:r>
          </a:p>
          <a:p>
            <a:r>
              <a:rPr lang="en-IL" sz="1200" dirty="0"/>
              <a:t>- Column 2: Dark pentagon → Light pentagon → Dark pentagon</a:t>
            </a:r>
          </a:p>
          <a:p>
            <a:r>
              <a:rPr lang="en-IL" sz="1200" dirty="0"/>
              <a:t>- Column 3: Dark circle → Light circle → ?</a:t>
            </a:r>
          </a:p>
          <a:p>
            <a:endParaRPr lang="en-IL" sz="1200" dirty="0"/>
          </a:p>
          <a:p>
            <a:r>
              <a:rPr lang="en-IL" sz="1200" dirty="0"/>
              <a:t>Logic:</a:t>
            </a:r>
          </a:p>
          <a:p>
            <a:r>
              <a:rPr lang="en-IL" sz="1200" dirty="0"/>
              <a:t>1. Shape progression within rows: Each row follows the same sequence of shapes: triangle → pentagon → circle. Row 3 already has triangle and pentagon, so the missing piece must be a circle.</a:t>
            </a:r>
          </a:p>
          <a:p>
            <a:endParaRPr lang="en-IL" sz="1200" dirty="0"/>
          </a:p>
          <a:p>
            <a:r>
              <a:rPr lang="en-IL" sz="1200" dirty="0"/>
              <a:t>2. Color alternation within columns: Each column alternates between dark and light shades. Column 3 shows: dark circle (Row 1) → light circle (Row 2) → ? (Row 3). Following the alternating pattern, Row 3 should have a dark circle.</a:t>
            </a:r>
          </a:p>
          <a:p>
            <a:endParaRPr lang="en-IL" sz="1200" dirty="0"/>
          </a:p>
          <a:p>
            <a:r>
              <a:rPr lang="en-IL" sz="1200" dirty="0"/>
              <a:t>3. Consistency check: The pattern shows that odd-numbered rows (1 and 3) contain dark shapes, while even-numbered rows (2) contain light shapes. This confirms Row 3 should have a dark shape.</a:t>
            </a:r>
          </a:p>
          <a:p>
            <a:endParaRPr lang="en-IL" sz="1200" dirty="0"/>
          </a:p>
          <a:p>
            <a:r>
              <a:rPr lang="en-IL" sz="1200" dirty="0"/>
              <a:t>4. Shape and color convergence: Combining the shape requirement (circle) with the color requirement (dark), the answer must be a dark circle.</a:t>
            </a:r>
          </a:p>
          <a:p>
            <a:endParaRPr lang="en-IL" sz="1200" dirty="0"/>
          </a:p>
          <a:p>
            <a:r>
              <a:rPr lang="en-IL" sz="1200" dirty="0"/>
              <a:t>Answer: Choice 0 - The dark circle, which maintains both the shape progression within the row and the color alternation within the column.</a:t>
            </a:r>
          </a:p>
        </p:txBody>
      </p:sp>
    </p:spTree>
    <p:extLst>
      <p:ext uri="{BB962C8B-B14F-4D97-AF65-F5344CB8AC3E}">
        <p14:creationId xmlns:p14="http://schemas.microsoft.com/office/powerpoint/2010/main" val="3301746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C19D1-7DC4-555F-4774-5650CB012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965752-09A6-7046-7936-A10DA992272E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LLM-219</a:t>
            </a:r>
          </a:p>
          <a:p>
            <a:r>
              <a:rPr lang="en-US" dirty="0" err="1"/>
              <a:t>in_center_single_out_center_single</a:t>
            </a:r>
            <a:endParaRPr lang="en-US" dirty="0"/>
          </a:p>
          <a:p>
            <a:r>
              <a:rPr lang="en-US" dirty="0" err="1"/>
              <a:t>llm</a:t>
            </a:r>
            <a:r>
              <a:rPr lang="en-US" dirty="0"/>
              <a:t> pred: 5</a:t>
            </a:r>
          </a:p>
          <a:p>
            <a:r>
              <a:rPr lang="en-US" dirty="0" err="1"/>
              <a:t>os</a:t>
            </a:r>
            <a:r>
              <a:rPr lang="en-US" dirty="0"/>
              <a:t> pred: </a:t>
            </a:r>
            <a:r>
              <a:rPr lang="he-IL" dirty="0"/>
              <a:t>1</a:t>
            </a:r>
          </a:p>
          <a:p>
            <a:r>
              <a:rPr lang="en-US" dirty="0"/>
              <a:t>true: 1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2A5B1E-5252-172F-BB24-00987904A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853" y="151885"/>
            <a:ext cx="4804247" cy="4877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D0DAD9-E91B-F003-2B6A-03B51E439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528" y="5221581"/>
            <a:ext cx="9549167" cy="148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869CA7-2D68-D1F4-F1D8-3016747B6ACD}"/>
              </a:ext>
            </a:extLst>
          </p:cNvPr>
          <p:cNvSpPr txBox="1"/>
          <p:nvPr/>
        </p:nvSpPr>
        <p:spPr>
          <a:xfrm>
            <a:off x="457200" y="199559"/>
            <a:ext cx="102489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1. Outer shape pattern by row:</a:t>
            </a:r>
          </a:p>
          <a:p>
            <a:r>
              <a:rPr lang="en-US" sz="1200" dirty="0"/>
              <a:t>   - Row 1: All cells contain diamonds</a:t>
            </a:r>
          </a:p>
          <a:p>
            <a:r>
              <a:rPr lang="en-US" sz="1200" dirty="0"/>
              <a:t>   - Row 2: All cells contain circles</a:t>
            </a:r>
          </a:p>
          <a:p>
            <a:r>
              <a:rPr lang="en-US" sz="1200" dirty="0"/>
              <a:t>   - Row 3: All cells contain circles (this pattern continues)</a:t>
            </a:r>
          </a:p>
          <a:p>
            <a:endParaRPr lang="en-US" sz="1200" dirty="0"/>
          </a:p>
          <a:p>
            <a:r>
              <a:rPr lang="en-US" sz="1200" dirty="0"/>
              <a:t>2. Inner shape pattern by row:</a:t>
            </a:r>
          </a:p>
          <a:p>
            <a:r>
              <a:rPr lang="en-US" sz="1200" dirty="0"/>
              <a:t>   - Row 1: All cells contain triangles (pointing right)</a:t>
            </a:r>
          </a:p>
          <a:p>
            <a:r>
              <a:rPr lang="en-US" sz="1200" dirty="0"/>
              <a:t>   - Row 2: All cells contain pentagons</a:t>
            </a:r>
          </a:p>
          <a:p>
            <a:r>
              <a:rPr lang="en-US" sz="1200" dirty="0"/>
              <a:t>   - Row 3: All cells contain hexagons</a:t>
            </a:r>
          </a:p>
          <a:p>
            <a:endParaRPr lang="en-US" sz="1200" dirty="0"/>
          </a:p>
          <a:p>
            <a:r>
              <a:rPr lang="en-US" sz="1200" dirty="0"/>
              <a:t>3. Color/shading pattern by row:</a:t>
            </a:r>
          </a:p>
          <a:p>
            <a:r>
              <a:rPr lang="en-US" sz="1200" dirty="0"/>
              <a:t>   - Row 1: Light gray and dark gray inner shapes</a:t>
            </a:r>
          </a:p>
          <a:p>
            <a:r>
              <a:rPr lang="en-US" sz="1200" dirty="0"/>
              <a:t>   - Row 2: Light gray or white inner shapes</a:t>
            </a:r>
          </a:p>
          <a:p>
            <a:r>
              <a:rPr lang="en-US" sz="1200" dirty="0"/>
              <a:t>   - Row 3: Black inner shapes (first cell), black inner shapes (second cell)</a:t>
            </a:r>
          </a:p>
          <a:p>
            <a:endParaRPr lang="en-US" sz="1200" dirty="0"/>
          </a:p>
          <a:p>
            <a:r>
              <a:rPr lang="en-US" sz="1200" dirty="0"/>
              <a:t>4. Size pattern by column:</a:t>
            </a:r>
          </a:p>
          <a:p>
            <a:r>
              <a:rPr lang="en-US" sz="1200" dirty="0"/>
              <a:t>   - The size of the shapes seems to follow a pattern across columns, with the inner shapes in Column 2 being smaller\equal to those in Columns 1 and 3</a:t>
            </a:r>
          </a:p>
          <a:p>
            <a:endParaRPr lang="en-US" sz="1200" dirty="0"/>
          </a:p>
          <a:p>
            <a:r>
              <a:rPr lang="en-US" sz="1200" dirty="0"/>
              <a:t>Based on these patterns, the missing piece should have:</a:t>
            </a:r>
          </a:p>
          <a:p>
            <a:r>
              <a:rPr lang="en-US" sz="1200" dirty="0"/>
              <a:t>- A circle as its outer shape (following the row pattern)</a:t>
            </a:r>
          </a:p>
          <a:p>
            <a:r>
              <a:rPr lang="en-US" sz="1200" dirty="0"/>
              <a:t>- A hexagon as its inner shape (following the row pattern)</a:t>
            </a:r>
          </a:p>
          <a:p>
            <a:r>
              <a:rPr lang="en-US" sz="1200" dirty="0"/>
              <a:t>- A black inner shape (following the row pattern)</a:t>
            </a:r>
          </a:p>
          <a:p>
            <a:r>
              <a:rPr lang="en-US" sz="1200" dirty="0"/>
              <a:t>- The size of the outer and inner shapes should be consistent with Column 3</a:t>
            </a:r>
          </a:p>
          <a:p>
            <a:endParaRPr lang="en-US" sz="1200" dirty="0"/>
          </a:p>
          <a:p>
            <a:r>
              <a:rPr lang="en-US" sz="1200" dirty="0"/>
              <a:t>Looking at the answer choices:</a:t>
            </a:r>
          </a:p>
          <a:p>
            <a:r>
              <a:rPr lang="en-US" sz="1200" dirty="0"/>
              <a:t>- Choices 1-7 contain hexagons as inner shapes</a:t>
            </a:r>
          </a:p>
          <a:p>
            <a:r>
              <a:rPr lang="en-US" sz="1200" dirty="0"/>
              <a:t>- Among these, only Choices 3, 5, and 7 have dark/black hexagons</a:t>
            </a:r>
          </a:p>
          <a:p>
            <a:r>
              <a:rPr lang="en-US" sz="1200" dirty="0"/>
              <a:t>- Choice 5 appears to have the most appropriate size relationship between the outer circle and inner hexagon for Column 3</a:t>
            </a:r>
          </a:p>
          <a:p>
            <a:endParaRPr lang="en-US" sz="1200" dirty="0"/>
          </a:p>
          <a:p>
            <a:r>
              <a:rPr lang="en-US" sz="1200" dirty="0"/>
              <a:t>The most logical answer is Choice 5, which features a circle as the outer shape and a black hexagon as the inner shape. The size relationship between the outer circle and inner hexagon in Choice 5 appears to match the pattern observed in Row 3, where the inner shape in Column 3 should be similar in size to Column 1 (slightly larger than Column 2).</a:t>
            </a:r>
          </a:p>
          <a:p>
            <a:endParaRPr lang="en-US" sz="1200" dirty="0"/>
          </a:p>
          <a:p>
            <a:r>
              <a:rPr lang="en-US" sz="1200" dirty="0"/>
              <a:t>Therefore, Choice 5 with its circle outer shape and appropriately sized black hexagon inner shape is the best answer.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1840307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129D33B-60A3-8BBD-66C6-85B145A6A935}"/>
              </a:ext>
            </a:extLst>
          </p:cNvPr>
          <p:cNvGrpSpPr/>
          <p:nvPr/>
        </p:nvGrpSpPr>
        <p:grpSpPr>
          <a:xfrm>
            <a:off x="4622677" y="428348"/>
            <a:ext cx="2946646" cy="3000652"/>
            <a:chOff x="5287888" y="807868"/>
            <a:chExt cx="2946646" cy="3000652"/>
          </a:xfrm>
        </p:grpSpPr>
        <p:pic>
          <p:nvPicPr>
            <p:cNvPr id="3" name="Picture 2" descr="A video game with a play button&#10;&#10;AI-generated content may be incorrect.">
              <a:extLst>
                <a:ext uri="{FF2B5EF4-FFF2-40B4-BE49-F238E27FC236}">
                  <a16:creationId xmlns:a16="http://schemas.microsoft.com/office/drawing/2014/main" id="{ACB3A0A4-1854-CE0D-D68B-041C0BF77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97996" y="807868"/>
              <a:ext cx="911194" cy="911194"/>
            </a:xfrm>
            <a:prstGeom prst="rect">
              <a:avLst/>
            </a:prstGeom>
          </p:spPr>
        </p:pic>
        <p:pic>
          <p:nvPicPr>
            <p:cNvPr id="5" name="Picture 4" descr="A blue and yellow square with a play&#10;&#10;AI-generated content may be incorrect.">
              <a:extLst>
                <a:ext uri="{FF2B5EF4-FFF2-40B4-BE49-F238E27FC236}">
                  <a16:creationId xmlns:a16="http://schemas.microsoft.com/office/drawing/2014/main" id="{89504A13-F56B-4F0B-8896-3C91EDCC5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5614" y="828829"/>
              <a:ext cx="911194" cy="911194"/>
            </a:xfrm>
            <a:prstGeom prst="rect">
              <a:avLst/>
            </a:prstGeom>
          </p:spPr>
        </p:pic>
        <p:pic>
          <p:nvPicPr>
            <p:cNvPr id="7" name="Picture 6" descr="A video game image of a video game&#10;&#10;AI-generated content may be incorrect.">
              <a:extLst>
                <a:ext uri="{FF2B5EF4-FFF2-40B4-BE49-F238E27FC236}">
                  <a16:creationId xmlns:a16="http://schemas.microsoft.com/office/drawing/2014/main" id="{28427ED0-DFC9-ADBA-70D1-A9CAF9528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23340" y="828829"/>
              <a:ext cx="911194" cy="911194"/>
            </a:xfrm>
            <a:prstGeom prst="rect">
              <a:avLst/>
            </a:prstGeom>
          </p:spPr>
        </p:pic>
        <p:pic>
          <p:nvPicPr>
            <p:cNvPr id="9" name="Picture 8" descr="A blue and yellow pixelated image&#10;&#10;AI-generated content may be incorrect.">
              <a:extLst>
                <a:ext uri="{FF2B5EF4-FFF2-40B4-BE49-F238E27FC236}">
                  <a16:creationId xmlns:a16="http://schemas.microsoft.com/office/drawing/2014/main" id="{6E4EFA58-D219-2796-E508-D5B388508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87888" y="1852597"/>
              <a:ext cx="911194" cy="911194"/>
            </a:xfrm>
            <a:prstGeom prst="rect">
              <a:avLst/>
            </a:prstGeom>
          </p:spPr>
        </p:pic>
        <p:pic>
          <p:nvPicPr>
            <p:cNvPr id="11" name="Picture 10" descr="A blue and yellow circle with a black center&#10;&#10;AI-generated content may be incorrect.">
              <a:extLst>
                <a:ext uri="{FF2B5EF4-FFF2-40B4-BE49-F238E27FC236}">
                  <a16:creationId xmlns:a16="http://schemas.microsoft.com/office/drawing/2014/main" id="{89E83245-FD4F-A6B6-2D5A-4575E3A12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05614" y="1852597"/>
              <a:ext cx="911194" cy="911194"/>
            </a:xfrm>
            <a:prstGeom prst="rect">
              <a:avLst/>
            </a:prstGeom>
          </p:spPr>
        </p:pic>
        <p:pic>
          <p:nvPicPr>
            <p:cNvPr id="13" name="Picture 12" descr="A blue and yellow circle with a hexagon&#10;&#10;AI-generated content may be incorrect.">
              <a:extLst>
                <a:ext uri="{FF2B5EF4-FFF2-40B4-BE49-F238E27FC236}">
                  <a16:creationId xmlns:a16="http://schemas.microsoft.com/office/drawing/2014/main" id="{59B5651A-7D4E-6267-F6A1-A26D1902A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23340" y="1852597"/>
              <a:ext cx="911194" cy="911194"/>
            </a:xfrm>
            <a:prstGeom prst="rect">
              <a:avLst/>
            </a:prstGeom>
          </p:spPr>
        </p:pic>
        <p:pic>
          <p:nvPicPr>
            <p:cNvPr id="15" name="Picture 14" descr="A colorful image of a hexagon&#10;&#10;AI-generated content may be incorrect.">
              <a:extLst>
                <a:ext uri="{FF2B5EF4-FFF2-40B4-BE49-F238E27FC236}">
                  <a16:creationId xmlns:a16="http://schemas.microsoft.com/office/drawing/2014/main" id="{9E104251-449D-997D-73EF-75008035C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97996" y="2897326"/>
              <a:ext cx="911194" cy="911194"/>
            </a:xfrm>
            <a:prstGeom prst="rect">
              <a:avLst/>
            </a:prstGeom>
          </p:spPr>
        </p:pic>
        <p:pic>
          <p:nvPicPr>
            <p:cNvPr id="17" name="Picture 16" descr="A blue and yellow circular object with a black circle&#10;&#10;AI-generated content may be incorrect.">
              <a:extLst>
                <a:ext uri="{FF2B5EF4-FFF2-40B4-BE49-F238E27FC236}">
                  <a16:creationId xmlns:a16="http://schemas.microsoft.com/office/drawing/2014/main" id="{4ED1D2DD-DA74-3B57-B5F7-AC05C12E3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10051" y="2897326"/>
              <a:ext cx="911194" cy="911194"/>
            </a:xfrm>
            <a:prstGeom prst="rect">
              <a:avLst/>
            </a:prstGeom>
          </p:spPr>
        </p:pic>
      </p:grpSp>
      <p:pic>
        <p:nvPicPr>
          <p:cNvPr id="20" name="Picture 19" descr="A circular object with a blue circle with Crust in the background&#10;&#10;AI-generated content may be incorrect.">
            <a:extLst>
              <a:ext uri="{FF2B5EF4-FFF2-40B4-BE49-F238E27FC236}">
                <a16:creationId xmlns:a16="http://schemas.microsoft.com/office/drawing/2014/main" id="{EFE0CF51-C98B-A1F7-555E-80A0FF1FF3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9263" y="4110361"/>
            <a:ext cx="1040660" cy="1040660"/>
          </a:xfrm>
          <a:prstGeom prst="rect">
            <a:avLst/>
          </a:prstGeom>
        </p:spPr>
      </p:pic>
      <p:pic>
        <p:nvPicPr>
          <p:cNvPr id="22" name="Picture 21" descr="A colorful circle with a hexagon&#10;&#10;AI-generated content may be incorrect.">
            <a:extLst>
              <a:ext uri="{FF2B5EF4-FFF2-40B4-BE49-F238E27FC236}">
                <a16:creationId xmlns:a16="http://schemas.microsoft.com/office/drawing/2014/main" id="{C4DE89FB-D5BC-8F18-89EB-8F3D5FDDB7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7815" y="4110361"/>
            <a:ext cx="1040660" cy="1040660"/>
          </a:xfrm>
          <a:prstGeom prst="rect">
            <a:avLst/>
          </a:prstGeom>
        </p:spPr>
      </p:pic>
      <p:pic>
        <p:nvPicPr>
          <p:cNvPr id="24" name="Picture 23" descr="A colorful circle with a hexagon&#10;&#10;AI-generated content may be incorrect.">
            <a:extLst>
              <a:ext uri="{FF2B5EF4-FFF2-40B4-BE49-F238E27FC236}">
                <a16:creationId xmlns:a16="http://schemas.microsoft.com/office/drawing/2014/main" id="{14ADBEF8-B4B3-BEF2-0CEF-3748BC421F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85178" y="4110361"/>
            <a:ext cx="1040660" cy="1040660"/>
          </a:xfrm>
          <a:prstGeom prst="rect">
            <a:avLst/>
          </a:prstGeom>
        </p:spPr>
      </p:pic>
      <p:pic>
        <p:nvPicPr>
          <p:cNvPr id="26" name="Picture 25" descr="A colorful circle with a hexagon&#10;&#10;AI-generated content may be incorrect.">
            <a:extLst>
              <a:ext uri="{FF2B5EF4-FFF2-40B4-BE49-F238E27FC236}">
                <a16:creationId xmlns:a16="http://schemas.microsoft.com/office/drawing/2014/main" id="{61AF4305-96CA-3F19-40AA-F15D3732C2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7021" y="4110361"/>
            <a:ext cx="1040660" cy="1040660"/>
          </a:xfrm>
          <a:prstGeom prst="rect">
            <a:avLst/>
          </a:prstGeom>
        </p:spPr>
      </p:pic>
      <p:pic>
        <p:nvPicPr>
          <p:cNvPr id="28" name="Picture 27" descr="A colorful image of a hexagon with Crust in the background&#10;&#10;AI-generated content may be incorrect.">
            <a:extLst>
              <a:ext uri="{FF2B5EF4-FFF2-40B4-BE49-F238E27FC236}">
                <a16:creationId xmlns:a16="http://schemas.microsoft.com/office/drawing/2014/main" id="{5895A24F-4564-1C76-0CAB-F6EA00D3E8B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74384" y="4110361"/>
            <a:ext cx="1040660" cy="1040660"/>
          </a:xfrm>
          <a:prstGeom prst="rect">
            <a:avLst/>
          </a:prstGeom>
        </p:spPr>
      </p:pic>
      <p:pic>
        <p:nvPicPr>
          <p:cNvPr id="30" name="Picture 29" descr="A colorful circle with a hexagon&#10;&#10;AI-generated content may be incorrect.">
            <a:extLst>
              <a:ext uri="{FF2B5EF4-FFF2-40B4-BE49-F238E27FC236}">
                <a16:creationId xmlns:a16="http://schemas.microsoft.com/office/drawing/2014/main" id="{528D870F-9551-450B-D8E5-0D1B3942732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1747" y="4110361"/>
            <a:ext cx="1040660" cy="1040660"/>
          </a:xfrm>
          <a:prstGeom prst="rect">
            <a:avLst/>
          </a:prstGeom>
        </p:spPr>
      </p:pic>
      <p:pic>
        <p:nvPicPr>
          <p:cNvPr id="32" name="Picture 31" descr="A colorful circle with a hexagon with Crust in the background&#10;&#10;AI-generated content may be incorrect.">
            <a:extLst>
              <a:ext uri="{FF2B5EF4-FFF2-40B4-BE49-F238E27FC236}">
                <a16:creationId xmlns:a16="http://schemas.microsoft.com/office/drawing/2014/main" id="{C2FA67E8-2177-6042-115E-0AC725D4B08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63590" y="4110361"/>
            <a:ext cx="1040660" cy="1040660"/>
          </a:xfrm>
          <a:prstGeom prst="rect">
            <a:avLst/>
          </a:prstGeom>
        </p:spPr>
      </p:pic>
      <p:pic>
        <p:nvPicPr>
          <p:cNvPr id="34" name="Picture 33" descr="A colorful circle with a hexagon&#10;&#10;AI-generated content may be incorrect.">
            <a:extLst>
              <a:ext uri="{FF2B5EF4-FFF2-40B4-BE49-F238E27FC236}">
                <a16:creationId xmlns:a16="http://schemas.microsoft.com/office/drawing/2014/main" id="{CCBE2F72-8C55-1A6E-7E49-DC3971F379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70953" y="4110361"/>
            <a:ext cx="1040660" cy="104066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AF01685-7F2B-D697-24D1-27753A63ACDE}"/>
              </a:ext>
            </a:extLst>
          </p:cNvPr>
          <p:cNvSpPr txBox="1"/>
          <p:nvPr/>
        </p:nvSpPr>
        <p:spPr>
          <a:xfrm>
            <a:off x="2907699" y="5253768"/>
            <a:ext cx="84962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sz="1600" dirty="0"/>
              <a:t>0 </a:t>
            </a:r>
            <a:r>
              <a:rPr lang="en-US" sz="1600" dirty="0"/>
              <a:t>                   1                         2                            3                           4                            5                           6                       7</a:t>
            </a:r>
            <a:endParaRPr lang="en-IL" sz="1600" dirty="0"/>
          </a:p>
        </p:txBody>
      </p:sp>
      <p:pic>
        <p:nvPicPr>
          <p:cNvPr id="36" name="Picture 3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696EE295-866B-A1CF-8B49-9E06F962C70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31706" y="657526"/>
            <a:ext cx="8382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2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A8899D-FC60-F505-E14F-8EA583EE06E8}"/>
              </a:ext>
            </a:extLst>
          </p:cNvPr>
          <p:cNvSpPr txBox="1"/>
          <p:nvPr/>
        </p:nvSpPr>
        <p:spPr>
          <a:xfrm>
            <a:off x="197928" y="333632"/>
            <a:ext cx="39792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LLM_1228</a:t>
            </a:r>
          </a:p>
          <a:p>
            <a:r>
              <a:rPr lang="en-IL" dirty="0"/>
              <a:t>up_center_single_down_center_single</a:t>
            </a:r>
            <a:endParaRPr lang="he-IL" dirty="0"/>
          </a:p>
          <a:p>
            <a:r>
              <a:rPr lang="en-US" dirty="0" err="1"/>
              <a:t>llm</a:t>
            </a:r>
            <a:r>
              <a:rPr lang="en-US" dirty="0"/>
              <a:t> </a:t>
            </a:r>
            <a:r>
              <a:rPr lang="he-IL" dirty="0" err="1"/>
              <a:t>pred</a:t>
            </a:r>
            <a:r>
              <a:rPr lang="en-US" dirty="0"/>
              <a:t>: 0</a:t>
            </a:r>
          </a:p>
          <a:p>
            <a:r>
              <a:rPr lang="en-US" dirty="0" err="1"/>
              <a:t>os</a:t>
            </a:r>
            <a:r>
              <a:rPr lang="en-US" dirty="0"/>
              <a:t> pred: </a:t>
            </a:r>
            <a:r>
              <a:rPr lang="he-IL" dirty="0"/>
              <a:t>0</a:t>
            </a:r>
            <a:endParaRPr lang="en-US" dirty="0"/>
          </a:p>
          <a:p>
            <a:r>
              <a:rPr lang="en-US" dirty="0"/>
              <a:t>true: 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C5394F-AE5E-E787-D3CC-A7E86FB3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" t="834" r="63138" b="30313"/>
          <a:stretch>
            <a:fillRect/>
          </a:stretch>
        </p:blipFill>
        <p:spPr>
          <a:xfrm>
            <a:off x="4646361" y="111210"/>
            <a:ext cx="4460569" cy="44739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53C3DD-C34D-33A0-CBE0-C5B6E31E9A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100"/>
          <a:stretch>
            <a:fillRect/>
          </a:stretch>
        </p:blipFill>
        <p:spPr>
          <a:xfrm>
            <a:off x="329222" y="4755727"/>
            <a:ext cx="11533555" cy="176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03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760C8B-D8E0-148F-396D-D9BBF7CB3539}"/>
              </a:ext>
            </a:extLst>
          </p:cNvPr>
          <p:cNvSpPr txBox="1"/>
          <p:nvPr/>
        </p:nvSpPr>
        <p:spPr>
          <a:xfrm>
            <a:off x="468923" y="285105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Row Pattern Analysis:</a:t>
            </a:r>
          </a:p>
          <a:p>
            <a:r>
              <a:rPr lang="en-US" sz="1400" dirty="0"/>
              <a:t>- Row 1: (light triangle, gray hexagon) → (gray hexagon, white triangle) → (dark gray diamond, gray pentagon)</a:t>
            </a:r>
          </a:p>
          <a:p>
            <a:r>
              <a:rPr lang="en-US" sz="1400" dirty="0"/>
              <a:t>- Row 2: (gray square, gray triangle) → (dark gray triangle, gray pentagon) → (light hexagon, white hexagon)</a:t>
            </a:r>
          </a:p>
          <a:p>
            <a:r>
              <a:rPr lang="en-US" sz="1400" dirty="0"/>
              <a:t>- Row 3: (dark gray hexagon, white pentagon) → (gray square, gray hexagon) → ?</a:t>
            </a:r>
          </a:p>
          <a:p>
            <a:endParaRPr lang="en-US" sz="1400" dirty="0"/>
          </a:p>
          <a:p>
            <a:r>
              <a:rPr lang="en-US" sz="1400" dirty="0"/>
              <a:t>Column Pattern Analysis:</a:t>
            </a:r>
          </a:p>
          <a:p>
            <a:r>
              <a:rPr lang="en-US" sz="1400" dirty="0"/>
              <a:t>In each column, the top cell contains one of 3 colors: light, dark gray, gray, so I expect the top missing cell to be gray.</a:t>
            </a:r>
          </a:p>
          <a:p>
            <a:endParaRPr lang="en-US" sz="1400" dirty="0"/>
          </a:p>
          <a:p>
            <a:r>
              <a:rPr lang="en-US" sz="1400" dirty="0"/>
              <a:t>Logic:</a:t>
            </a:r>
          </a:p>
          <a:p>
            <a:r>
              <a:rPr lang="en-US" sz="1400" dirty="0"/>
              <a:t>1. Two shapes per cell consistency: Every cell in the matrix contains exactly 2 shapes. The missing cell in Row 3, Column 3 must also contain 2 shapes to maintain this fundamental pattern.</a:t>
            </a:r>
          </a:p>
          <a:p>
            <a:endParaRPr lang="en-US" sz="1400" dirty="0"/>
          </a:p>
          <a:p>
            <a:r>
              <a:rPr lang="en-US" sz="1400" dirty="0"/>
              <a:t>2. Shape variety within upper cells: Looking at the existing cells, each row in its upper cells contains 3 shapes: triangle, hexagon, square/diamond, so I expect the top cell in the missing cell to be a triangle.</a:t>
            </a:r>
          </a:p>
          <a:p>
            <a:endParaRPr lang="en-US" sz="1400" dirty="0"/>
          </a:p>
          <a:p>
            <a:r>
              <a:rPr lang="en-US" sz="1400" dirty="0"/>
              <a:t>3. Shape variety within bottom cells: Looking at the existing cells, each row in its bottom cells contains 3 shapes: triangle, hexagon, pentagon, so I expect the bottom cell in the missing cell to be a triangle.</a:t>
            </a:r>
          </a:p>
          <a:p>
            <a:endParaRPr lang="en-US" sz="1400" dirty="0"/>
          </a:p>
          <a:p>
            <a:r>
              <a:rPr lang="en-US" sz="1400" dirty="0"/>
              <a:t>Looking at the answer choices, only choices 0, 1 match both the shape and color requirements. However, answer 1 contains a triangle that is too big and not seen in the matrix, so the answer is choice 0.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778295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CE025F0-8210-8933-9AD5-B78547EFE569}"/>
              </a:ext>
            </a:extLst>
          </p:cNvPr>
          <p:cNvGrpSpPr/>
          <p:nvPr/>
        </p:nvGrpSpPr>
        <p:grpSpPr>
          <a:xfrm>
            <a:off x="4305668" y="154124"/>
            <a:ext cx="3865488" cy="3796439"/>
            <a:chOff x="5007004" y="322800"/>
            <a:chExt cx="3865488" cy="3796439"/>
          </a:xfrm>
        </p:grpSpPr>
        <p:pic>
          <p:nvPicPr>
            <p:cNvPr id="3" name="Picture 2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AAA3A79B-ABCB-9A17-138D-91DCCD249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7004" y="322800"/>
              <a:ext cx="1211063" cy="1168647"/>
            </a:xfrm>
            <a:prstGeom prst="rect">
              <a:avLst/>
            </a:prstGeom>
          </p:spPr>
        </p:pic>
        <p:pic>
          <p:nvPicPr>
            <p:cNvPr id="5" name="Picture 4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8EE6E19E-D8B2-52C6-4964-CCC9B5131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3822" y="322801"/>
              <a:ext cx="1211063" cy="1168647"/>
            </a:xfrm>
            <a:prstGeom prst="rect">
              <a:avLst/>
            </a:prstGeom>
          </p:spPr>
        </p:pic>
        <p:pic>
          <p:nvPicPr>
            <p:cNvPr id="7" name="Picture 6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72BCCE4-9747-8FD8-8DE1-A183C335B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61429" y="322800"/>
              <a:ext cx="1211063" cy="1168647"/>
            </a:xfrm>
            <a:prstGeom prst="rect">
              <a:avLst/>
            </a:prstGeom>
          </p:spPr>
        </p:pic>
        <p:pic>
          <p:nvPicPr>
            <p:cNvPr id="9" name="Picture 8" descr="A blue and yellow pixelated background&#10;&#10;AI-generated content may be incorrect.">
              <a:extLst>
                <a:ext uri="{FF2B5EF4-FFF2-40B4-BE49-F238E27FC236}">
                  <a16:creationId xmlns:a16="http://schemas.microsoft.com/office/drawing/2014/main" id="{91BF7118-A936-B818-B9B2-350B744A6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7005" y="1636697"/>
              <a:ext cx="1211063" cy="1168647"/>
            </a:xfrm>
            <a:prstGeom prst="rect">
              <a:avLst/>
            </a:prstGeom>
          </p:spPr>
        </p:pic>
        <p:pic>
          <p:nvPicPr>
            <p:cNvPr id="11" name="Picture 10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F226A8FF-7F7B-C1F6-7354-3BD4E0B62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53823" y="1636697"/>
              <a:ext cx="1211063" cy="1168647"/>
            </a:xfrm>
            <a:prstGeom prst="rect">
              <a:avLst/>
            </a:prstGeom>
          </p:spPr>
        </p:pic>
        <p:pic>
          <p:nvPicPr>
            <p:cNvPr id="13" name="Picture 12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80EA08F-F3A4-50F7-1900-144F27F64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61429" y="1636697"/>
              <a:ext cx="1211063" cy="1168647"/>
            </a:xfrm>
            <a:prstGeom prst="rect">
              <a:avLst/>
            </a:prstGeom>
          </p:spPr>
        </p:pic>
        <p:pic>
          <p:nvPicPr>
            <p:cNvPr id="15" name="Picture 14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A450A45F-FDC4-617F-0BBE-96F8D5D4C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07006" y="2950591"/>
              <a:ext cx="1211063" cy="1168647"/>
            </a:xfrm>
            <a:prstGeom prst="rect">
              <a:avLst/>
            </a:prstGeom>
          </p:spPr>
        </p:pic>
        <p:pic>
          <p:nvPicPr>
            <p:cNvPr id="17" name="Picture 16" descr="A screenshot of a heat map&#10;&#10;AI-generated content may be incorrect.">
              <a:extLst>
                <a:ext uri="{FF2B5EF4-FFF2-40B4-BE49-F238E27FC236}">
                  <a16:creationId xmlns:a16="http://schemas.microsoft.com/office/drawing/2014/main" id="{8F6F6238-D8D0-02FF-EE35-87440A4E8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65289" y="2950592"/>
              <a:ext cx="1211063" cy="1168647"/>
            </a:xfrm>
            <a:prstGeom prst="rect">
              <a:avLst/>
            </a:prstGeom>
          </p:spPr>
        </p:pic>
      </p:grpSp>
      <p:pic>
        <p:nvPicPr>
          <p:cNvPr id="20" name="Picture 19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1D14EFC2-3D66-8CD8-131B-D4F2716C47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531" y="4303202"/>
            <a:ext cx="1239668" cy="1239668"/>
          </a:xfrm>
          <a:prstGeom prst="rect">
            <a:avLst/>
          </a:prstGeom>
        </p:spPr>
      </p:pic>
      <p:pic>
        <p:nvPicPr>
          <p:cNvPr id="22" name="Picture 2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FF0B130-F49D-754F-AB7C-4A72C209BF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30512" y="4303202"/>
            <a:ext cx="1239668" cy="1239668"/>
          </a:xfrm>
          <a:prstGeom prst="rect">
            <a:avLst/>
          </a:prstGeom>
        </p:spPr>
      </p:pic>
      <p:pic>
        <p:nvPicPr>
          <p:cNvPr id="24" name="Picture 23" descr="A screenshot of a grid&#10;&#10;AI-generated content may be incorrect.">
            <a:extLst>
              <a:ext uri="{FF2B5EF4-FFF2-40B4-BE49-F238E27FC236}">
                <a16:creationId xmlns:a16="http://schemas.microsoft.com/office/drawing/2014/main" id="{1217C2DF-3340-832C-AC6F-77F54BEB1A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5428" y="4303202"/>
            <a:ext cx="1239668" cy="1239668"/>
          </a:xfrm>
          <a:prstGeom prst="rect">
            <a:avLst/>
          </a:prstGeom>
        </p:spPr>
      </p:pic>
      <p:pic>
        <p:nvPicPr>
          <p:cNvPr id="26" name="Picture 25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15CDA758-487E-C0D4-F5A4-5808138F2E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0344" y="4303202"/>
            <a:ext cx="1239668" cy="1239668"/>
          </a:xfrm>
          <a:prstGeom prst="rect">
            <a:avLst/>
          </a:prstGeom>
        </p:spPr>
      </p:pic>
      <p:pic>
        <p:nvPicPr>
          <p:cNvPr id="28" name="Picture 27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BA63363B-805E-40FF-B2F4-4CD5AD1815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5260" y="4303202"/>
            <a:ext cx="1239668" cy="1239668"/>
          </a:xfrm>
          <a:prstGeom prst="rect">
            <a:avLst/>
          </a:prstGeom>
        </p:spPr>
      </p:pic>
      <p:pic>
        <p:nvPicPr>
          <p:cNvPr id="30" name="Picture 29" descr="A screenshot of a graph&#10;&#10;AI-generated content may be incorrect.">
            <a:extLst>
              <a:ext uri="{FF2B5EF4-FFF2-40B4-BE49-F238E27FC236}">
                <a16:creationId xmlns:a16="http://schemas.microsoft.com/office/drawing/2014/main" id="{EF9595FB-5826-ACB4-B6E9-4FE1214F09A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70176" y="4303202"/>
            <a:ext cx="1239668" cy="1239668"/>
          </a:xfrm>
          <a:prstGeom prst="rect">
            <a:avLst/>
          </a:prstGeom>
        </p:spPr>
      </p:pic>
      <p:pic>
        <p:nvPicPr>
          <p:cNvPr id="32" name="Picture 31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A9DAA01D-FC69-A14D-8184-AB4ECFBE4D0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55092" y="4303202"/>
            <a:ext cx="1239668" cy="1239668"/>
          </a:xfrm>
          <a:prstGeom prst="rect">
            <a:avLst/>
          </a:prstGeom>
        </p:spPr>
      </p:pic>
      <p:pic>
        <p:nvPicPr>
          <p:cNvPr id="34" name="Picture 3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092BA89B-52F3-89FC-D446-37648A1E83E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40008" y="4303202"/>
            <a:ext cx="1239668" cy="123966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59A4F3B-5418-4B7E-3092-F42494BE3273}"/>
              </a:ext>
            </a:extLst>
          </p:cNvPr>
          <p:cNvSpPr txBox="1"/>
          <p:nvPr/>
        </p:nvSpPr>
        <p:spPr>
          <a:xfrm>
            <a:off x="1375299" y="5617096"/>
            <a:ext cx="998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</a:t>
            </a:r>
            <a:r>
              <a:rPr lang="he-IL" dirty="0"/>
              <a:t>  </a:t>
            </a:r>
            <a:r>
              <a:rPr lang="en-US" dirty="0"/>
              <a:t>      1             </a:t>
            </a:r>
            <a:r>
              <a:rPr lang="he-IL" dirty="0"/>
              <a:t>       </a:t>
            </a:r>
            <a:r>
              <a:rPr lang="en-US" dirty="0"/>
              <a:t>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  <p:pic>
        <p:nvPicPr>
          <p:cNvPr id="36" name="Picture 3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B14B77E0-08EB-FF6E-F6B1-5A1B4860EB6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79159" y="533239"/>
            <a:ext cx="8382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0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9E2EC-BCCF-8F6A-C9BC-ADC765C5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D44AF4-2C51-73B9-3939-43443F882BB6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LLM-1229</a:t>
            </a:r>
          </a:p>
          <a:p>
            <a:r>
              <a:rPr lang="en-US" dirty="0" err="1"/>
              <a:t>in_center_single_out_center_single</a:t>
            </a:r>
            <a:endParaRPr lang="en-US" dirty="0"/>
          </a:p>
          <a:p>
            <a:r>
              <a:rPr lang="en-US" dirty="0" err="1"/>
              <a:t>llm</a:t>
            </a:r>
            <a:r>
              <a:rPr lang="en-US" dirty="0"/>
              <a:t> pred: 6</a:t>
            </a:r>
          </a:p>
          <a:p>
            <a:r>
              <a:rPr lang="en-US" dirty="0" err="1"/>
              <a:t>os</a:t>
            </a:r>
            <a:r>
              <a:rPr lang="en-US" dirty="0"/>
              <a:t> pred:</a:t>
            </a:r>
            <a:r>
              <a:rPr lang="he-IL" dirty="0"/>
              <a:t>6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6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286B86-2157-2175-C3A9-E67D6DB12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479" y="118761"/>
            <a:ext cx="4928115" cy="49843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6CE767-2876-DD3F-E29C-395F06C74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35" y="5094067"/>
            <a:ext cx="10678667" cy="164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414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1F4374-01C7-972B-FF85-0DC0CD484DE6}"/>
              </a:ext>
            </a:extLst>
          </p:cNvPr>
          <p:cNvSpPr txBox="1"/>
          <p:nvPr/>
        </p:nvSpPr>
        <p:spPr>
          <a:xfrm>
            <a:off x="209862" y="312166"/>
            <a:ext cx="1110771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 Outer shape pattern by column:</a:t>
            </a:r>
          </a:p>
          <a:p>
            <a:r>
              <a:rPr lang="en-US" sz="1400" dirty="0"/>
              <a:t>   - Column 1: Triangle → Diamond/Square → Pentagon</a:t>
            </a:r>
          </a:p>
          <a:p>
            <a:r>
              <a:rPr lang="en-US" sz="1400" dirty="0"/>
              <a:t>   - Column 2: Square/Diamond → Pentagon → Triangle</a:t>
            </a:r>
          </a:p>
          <a:p>
            <a:r>
              <a:rPr lang="en-US" sz="1400" dirty="0"/>
              <a:t>   - Column 3: Pentagon → Triangle → Missing piece (should be a square or diamond)</a:t>
            </a:r>
          </a:p>
          <a:p>
            <a:endParaRPr lang="en-US" sz="1400" dirty="0"/>
          </a:p>
          <a:p>
            <a:r>
              <a:rPr lang="en-US" sz="1400" dirty="0"/>
              <a:t>2. Inner shape pattern by row:</a:t>
            </a:r>
          </a:p>
          <a:p>
            <a:r>
              <a:rPr lang="en-US" sz="1400" dirty="0"/>
              <a:t>   - Row 1: Light gray shapes (triangle, square, pentagon)</a:t>
            </a:r>
          </a:p>
          <a:p>
            <a:r>
              <a:rPr lang="en-US" sz="1400" dirty="0"/>
              <a:t>   - Row 2: Black shapes (triangle, diamond, pentagon)</a:t>
            </a:r>
          </a:p>
          <a:p>
            <a:r>
              <a:rPr lang="en-US" sz="1400" dirty="0"/>
              <a:t>   - Row 3: Black shapes (diamond, pentagon, ?)</a:t>
            </a:r>
          </a:p>
          <a:p>
            <a:endParaRPr lang="en-US" sz="1400" dirty="0"/>
          </a:p>
          <a:p>
            <a:r>
              <a:rPr lang="en-US" sz="1400" dirty="0"/>
              <a:t>3. Size relationship:</a:t>
            </a:r>
          </a:p>
          <a:p>
            <a:r>
              <a:rPr lang="en-US" sz="1400" dirty="0"/>
              <a:t>   - The inner shape is always smaller than the outer shape</a:t>
            </a:r>
          </a:p>
          <a:p>
            <a:r>
              <a:rPr lang="en-US" sz="1400" dirty="0"/>
              <a:t>   - The inner shape's complexity appears to increase moving across Row 3 (diamond → pentagon → hexagon?)</a:t>
            </a:r>
          </a:p>
          <a:p>
            <a:endParaRPr lang="en-US" sz="1400" dirty="0"/>
          </a:p>
          <a:p>
            <a:r>
              <a:rPr lang="en-US" sz="1400" dirty="0"/>
              <a:t>4. Rotation pattern:</a:t>
            </a:r>
          </a:p>
          <a:p>
            <a:r>
              <a:rPr lang="en-US" sz="1400" dirty="0"/>
              <a:t>   - There seems to be consistent rotation of the outer shapes in each row</a:t>
            </a:r>
          </a:p>
          <a:p>
            <a:endParaRPr lang="en-US" sz="1400" dirty="0"/>
          </a:p>
          <a:p>
            <a:r>
              <a:rPr lang="en-US" sz="1400" dirty="0"/>
              <a:t>Based on these patterns, the missing piece should have:</a:t>
            </a:r>
          </a:p>
          <a:p>
            <a:r>
              <a:rPr lang="en-US" sz="1400" dirty="0"/>
              <a:t>- A square or diamond as its outer shape (following the column pattern)</a:t>
            </a:r>
          </a:p>
          <a:p>
            <a:r>
              <a:rPr lang="en-US" sz="1400" dirty="0"/>
              <a:t>- A black inner shape (following the row pattern)</a:t>
            </a:r>
          </a:p>
          <a:p>
            <a:r>
              <a:rPr lang="en-US" sz="1400" dirty="0"/>
              <a:t>- The inner shape should be hexagon</a:t>
            </a:r>
          </a:p>
          <a:p>
            <a:endParaRPr lang="en-US" sz="1400" dirty="0"/>
          </a:p>
          <a:p>
            <a:r>
              <a:rPr lang="en-US" sz="1400" dirty="0"/>
              <a:t>Looking at the answer choices, we need a diamond or square outer shape with a black hexagon inner shape. </a:t>
            </a:r>
          </a:p>
          <a:p>
            <a:endParaRPr lang="en-US" sz="1400" dirty="0"/>
          </a:p>
          <a:p>
            <a:r>
              <a:rPr lang="en-US" sz="1400" dirty="0"/>
              <a:t>Choices 1, 2, 5 all show various polygons (hexagons, pentagons, circles) as the outer/inner shape, which don't follow the column/row pattern that we need.</a:t>
            </a:r>
          </a:p>
          <a:p>
            <a:endParaRPr lang="en-US" sz="1400" dirty="0"/>
          </a:p>
          <a:p>
            <a:r>
              <a:rPr lang="en-US" sz="1400" dirty="0"/>
              <a:t>Based on this analysis, Choice 6 appears to be the most logical answer </a:t>
            </a:r>
          </a:p>
          <a:p>
            <a:r>
              <a:rPr lang="en-US" sz="1400" dirty="0"/>
              <a:t>in terms of the size ratios seen in the matrix. It features a diamond outer shape (which follows the pattern of shapes in Column 3) and a black hexagon inner shape (which follows the pattern of black inner shapes in Row 3).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2280490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7A75AF3-4A48-2415-569B-AE595597813A}"/>
              </a:ext>
            </a:extLst>
          </p:cNvPr>
          <p:cNvGrpSpPr/>
          <p:nvPr/>
        </p:nvGrpSpPr>
        <p:grpSpPr>
          <a:xfrm>
            <a:off x="4401351" y="290250"/>
            <a:ext cx="3073646" cy="3138750"/>
            <a:chOff x="5422283" y="752875"/>
            <a:chExt cx="3073646" cy="3138750"/>
          </a:xfrm>
        </p:grpSpPr>
        <p:pic>
          <p:nvPicPr>
            <p:cNvPr id="3" name="Picture 2" descr="A blue and yellow triangle&#10;&#10;AI-generated content may be incorrect.">
              <a:extLst>
                <a:ext uri="{FF2B5EF4-FFF2-40B4-BE49-F238E27FC236}">
                  <a16:creationId xmlns:a16="http://schemas.microsoft.com/office/drawing/2014/main" id="{F9165EA3-04A8-66BD-0AEB-26AFE813F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22283" y="752875"/>
              <a:ext cx="925250" cy="925250"/>
            </a:xfrm>
            <a:prstGeom prst="rect">
              <a:avLst/>
            </a:prstGeom>
          </p:spPr>
        </p:pic>
        <p:pic>
          <p:nvPicPr>
            <p:cNvPr id="5" name="Picture 4" descr="A blue square with yellow squares&#10;&#10;AI-generated content may be incorrect.">
              <a:extLst>
                <a:ext uri="{FF2B5EF4-FFF2-40B4-BE49-F238E27FC236}">
                  <a16:creationId xmlns:a16="http://schemas.microsoft.com/office/drawing/2014/main" id="{C74DDF63-1C48-FAF2-BB28-AB9095592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0870" y="775563"/>
              <a:ext cx="925250" cy="925250"/>
            </a:xfrm>
            <a:prstGeom prst="rect">
              <a:avLst/>
            </a:prstGeom>
          </p:spPr>
        </p:pic>
        <p:pic>
          <p:nvPicPr>
            <p:cNvPr id="7" name="Picture 6" descr="A hexagon with a blue background&#10;&#10;AI-generated content may be incorrect.">
              <a:extLst>
                <a:ext uri="{FF2B5EF4-FFF2-40B4-BE49-F238E27FC236}">
                  <a16:creationId xmlns:a16="http://schemas.microsoft.com/office/drawing/2014/main" id="{414DEA3A-451E-4905-FC24-18D59203A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70679" y="775563"/>
              <a:ext cx="925250" cy="925250"/>
            </a:xfrm>
            <a:prstGeom prst="rect">
              <a:avLst/>
            </a:prstGeom>
          </p:spPr>
        </p:pic>
        <p:pic>
          <p:nvPicPr>
            <p:cNvPr id="9" name="Picture 8" descr="A blue and yellow square with a black triangle in the center&#10;&#10;AI-generated content may be incorrect.">
              <a:extLst>
                <a:ext uri="{FF2B5EF4-FFF2-40B4-BE49-F238E27FC236}">
                  <a16:creationId xmlns:a16="http://schemas.microsoft.com/office/drawing/2014/main" id="{7B7E86CE-99C3-F09F-BAF4-2931C263F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22283" y="1859625"/>
              <a:ext cx="925250" cy="925250"/>
            </a:xfrm>
            <a:prstGeom prst="rect">
              <a:avLst/>
            </a:prstGeom>
          </p:spPr>
        </p:pic>
        <p:pic>
          <p:nvPicPr>
            <p:cNvPr id="11" name="Picture 10" descr="A blue and yellow hexagon with black squares&#10;&#10;AI-generated content may be incorrect.">
              <a:extLst>
                <a:ext uri="{FF2B5EF4-FFF2-40B4-BE49-F238E27FC236}">
                  <a16:creationId xmlns:a16="http://schemas.microsoft.com/office/drawing/2014/main" id="{2F898984-8D64-29EE-7966-13509F00B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40870" y="1859625"/>
              <a:ext cx="925250" cy="925250"/>
            </a:xfrm>
            <a:prstGeom prst="rect">
              <a:avLst/>
            </a:prstGeom>
          </p:spPr>
        </p:pic>
        <p:pic>
          <p:nvPicPr>
            <p:cNvPr id="13" name="Picture 12" descr="A blue and black triangle with yellow squares&#10;&#10;AI-generated content may be incorrect.">
              <a:extLst>
                <a:ext uri="{FF2B5EF4-FFF2-40B4-BE49-F238E27FC236}">
                  <a16:creationId xmlns:a16="http://schemas.microsoft.com/office/drawing/2014/main" id="{ACBF9DE5-72D2-3D9F-235A-5F6C745FD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70679" y="1859625"/>
              <a:ext cx="925250" cy="925250"/>
            </a:xfrm>
            <a:prstGeom prst="rect">
              <a:avLst/>
            </a:prstGeom>
          </p:spPr>
        </p:pic>
        <p:pic>
          <p:nvPicPr>
            <p:cNvPr id="15" name="Picture 14" descr="A blue and yellow square with black squares&#10;&#10;AI-generated content may be incorrect.">
              <a:extLst>
                <a:ext uri="{FF2B5EF4-FFF2-40B4-BE49-F238E27FC236}">
                  <a16:creationId xmlns:a16="http://schemas.microsoft.com/office/drawing/2014/main" id="{23ECC02B-4910-7F28-C12E-080FEEE48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22283" y="2966375"/>
              <a:ext cx="925250" cy="925250"/>
            </a:xfrm>
            <a:prstGeom prst="rect">
              <a:avLst/>
            </a:prstGeom>
          </p:spPr>
        </p:pic>
        <p:pic>
          <p:nvPicPr>
            <p:cNvPr id="17" name="Picture 16" descr="A blue and yellow triangle with a black hexagon&#10;&#10;AI-generated content may be incorrect.">
              <a:extLst>
                <a:ext uri="{FF2B5EF4-FFF2-40B4-BE49-F238E27FC236}">
                  <a16:creationId xmlns:a16="http://schemas.microsoft.com/office/drawing/2014/main" id="{06DF8234-E6D4-F3A8-9726-C76B12879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40870" y="2966375"/>
              <a:ext cx="925250" cy="925250"/>
            </a:xfrm>
            <a:prstGeom prst="rect">
              <a:avLst/>
            </a:prstGeom>
          </p:spPr>
        </p:pic>
      </p:grpSp>
      <p:pic>
        <p:nvPicPr>
          <p:cNvPr id="20" name="Picture 19" descr="A colorful square with black squares&#10;&#10;AI-generated content may be incorrect.">
            <a:extLst>
              <a:ext uri="{FF2B5EF4-FFF2-40B4-BE49-F238E27FC236}">
                <a16:creationId xmlns:a16="http://schemas.microsoft.com/office/drawing/2014/main" id="{0A91B9B9-FC05-1035-4F54-6F0172EF88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3225" y="4354250"/>
            <a:ext cx="1106750" cy="1106750"/>
          </a:xfrm>
          <a:prstGeom prst="rect">
            <a:avLst/>
          </a:prstGeom>
        </p:spPr>
      </p:pic>
      <p:pic>
        <p:nvPicPr>
          <p:cNvPr id="22" name="Picture 21" descr="A colorful image of a black circle&#10;&#10;AI-generated content may be incorrect.">
            <a:extLst>
              <a:ext uri="{FF2B5EF4-FFF2-40B4-BE49-F238E27FC236}">
                <a16:creationId xmlns:a16="http://schemas.microsoft.com/office/drawing/2014/main" id="{08141269-58EE-944E-06F3-661DA66F61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2221" y="4354250"/>
            <a:ext cx="1106750" cy="1106750"/>
          </a:xfrm>
          <a:prstGeom prst="rect">
            <a:avLst/>
          </a:prstGeom>
        </p:spPr>
      </p:pic>
      <p:pic>
        <p:nvPicPr>
          <p:cNvPr id="24" name="Picture 23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E3608FC4-48F4-AB55-F398-DE9F6A62EB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5094" y="4354250"/>
            <a:ext cx="1106750" cy="1106750"/>
          </a:xfrm>
          <a:prstGeom prst="rect">
            <a:avLst/>
          </a:prstGeom>
        </p:spPr>
      </p:pic>
      <p:pic>
        <p:nvPicPr>
          <p:cNvPr id="26" name="Picture 25" descr="A blue hexagon with yellow and blue squares&#10;&#10;AI-generated content may be incorrect.">
            <a:extLst>
              <a:ext uri="{FF2B5EF4-FFF2-40B4-BE49-F238E27FC236}">
                <a16:creationId xmlns:a16="http://schemas.microsoft.com/office/drawing/2014/main" id="{BDD240CA-3BF6-C6DB-7971-6594B2A3724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30659" y="4326631"/>
            <a:ext cx="1106750" cy="1106750"/>
          </a:xfrm>
          <a:prstGeom prst="rect">
            <a:avLst/>
          </a:prstGeom>
        </p:spPr>
      </p:pic>
      <p:pic>
        <p:nvPicPr>
          <p:cNvPr id="28" name="Picture 27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3FD85CCD-3EFE-FA3E-4143-4B241151BD1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73532" y="4326631"/>
            <a:ext cx="1106750" cy="1106750"/>
          </a:xfrm>
          <a:prstGeom prst="rect">
            <a:avLst/>
          </a:prstGeom>
        </p:spPr>
      </p:pic>
      <p:pic>
        <p:nvPicPr>
          <p:cNvPr id="30" name="Picture 29" descr="A colorful hexagon with black lines&#10;&#10;AI-generated content may be incorrect.">
            <a:extLst>
              <a:ext uri="{FF2B5EF4-FFF2-40B4-BE49-F238E27FC236}">
                <a16:creationId xmlns:a16="http://schemas.microsoft.com/office/drawing/2014/main" id="{C5ABB528-EACD-FFC3-8523-11DE21B5205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6405" y="4326631"/>
            <a:ext cx="1106750" cy="1106750"/>
          </a:xfrm>
          <a:prstGeom prst="rect">
            <a:avLst/>
          </a:prstGeom>
        </p:spPr>
      </p:pic>
      <p:pic>
        <p:nvPicPr>
          <p:cNvPr id="32" name="Picture 31" descr="A colorful image of a diamond&#10;&#10;AI-generated content may be incorrect.">
            <a:extLst>
              <a:ext uri="{FF2B5EF4-FFF2-40B4-BE49-F238E27FC236}">
                <a16:creationId xmlns:a16="http://schemas.microsoft.com/office/drawing/2014/main" id="{5233FA6A-4AB7-B081-DDF2-62A529A56EB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59278" y="4332796"/>
            <a:ext cx="1106750" cy="1106750"/>
          </a:xfrm>
          <a:prstGeom prst="rect">
            <a:avLst/>
          </a:prstGeom>
        </p:spPr>
      </p:pic>
      <p:pic>
        <p:nvPicPr>
          <p:cNvPr id="34" name="Picture 33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338B1EF0-1B57-4EC0-6784-2FC988291AD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02151" y="4326631"/>
            <a:ext cx="1106750" cy="11067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975AA2B-1213-2714-C8CA-8523992BEB44}"/>
              </a:ext>
            </a:extLst>
          </p:cNvPr>
          <p:cNvSpPr txBox="1"/>
          <p:nvPr/>
        </p:nvSpPr>
        <p:spPr>
          <a:xfrm>
            <a:off x="2130771" y="5618078"/>
            <a:ext cx="9853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</a:t>
            </a:r>
            <a:r>
              <a:rPr lang="he-IL" dirty="0"/>
              <a:t>      </a:t>
            </a:r>
            <a:r>
              <a:rPr lang="en-US" dirty="0"/>
              <a:t>   1                         2                            3                           4                            5                           6                       7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  <p:pic>
        <p:nvPicPr>
          <p:cNvPr id="36" name="Picture 3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077A8246-A94F-FE49-81AE-9C62DA013B5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12690" y="444462"/>
            <a:ext cx="8382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10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A7F400-58D0-041F-71EA-812A3433FDEF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LLM-6569</a:t>
            </a:r>
          </a:p>
          <a:p>
            <a:r>
              <a:rPr lang="en-US" dirty="0" err="1"/>
              <a:t>left_center_single_right_center_single</a:t>
            </a:r>
            <a:endParaRPr lang="en-US" dirty="0"/>
          </a:p>
          <a:p>
            <a:r>
              <a:rPr lang="en-US" dirty="0" err="1"/>
              <a:t>llm</a:t>
            </a:r>
            <a:r>
              <a:rPr lang="en-US" dirty="0"/>
              <a:t> pred: </a:t>
            </a:r>
            <a:r>
              <a:rPr lang="he-IL" dirty="0"/>
              <a:t>0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 </a:t>
            </a:r>
            <a:r>
              <a:rPr lang="he-IL" dirty="0"/>
              <a:t>1</a:t>
            </a:r>
          </a:p>
          <a:p>
            <a:r>
              <a:rPr lang="en-US" dirty="0"/>
              <a:t>true: 0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C619F6-51DC-EEBA-0A1D-50022E245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254" y="109497"/>
            <a:ext cx="4555879" cy="46602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83F9A1-4FE3-3CEB-750F-2684EBBD1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945" y="5087893"/>
            <a:ext cx="10586395" cy="166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31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BB0A72-87A4-138E-B6D9-96ACFD2FDBA6}"/>
              </a:ext>
            </a:extLst>
          </p:cNvPr>
          <p:cNvSpPr txBox="1"/>
          <p:nvPr/>
        </p:nvSpPr>
        <p:spPr>
          <a:xfrm>
            <a:off x="342900" y="213459"/>
            <a:ext cx="92075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1. Left shape pattern across columns:</a:t>
            </a:r>
          </a:p>
          <a:p>
            <a:r>
              <a:rPr lang="en-US" sz="1200" dirty="0"/>
              <a:t>   - Row 1: Circle (gray) → Circle(gray) → Circle (gray)</a:t>
            </a:r>
          </a:p>
          <a:p>
            <a:r>
              <a:rPr lang="en-US" sz="1200" dirty="0"/>
              <a:t>   - Row 2: Pentagon (white) → Pentagon (white) → Pentagon (white)</a:t>
            </a:r>
          </a:p>
          <a:p>
            <a:r>
              <a:rPr lang="en-US" sz="1200" dirty="0"/>
              <a:t>   - Row 3: Hexagon (dark gray) → Hexagon (dark gray) → Missing piece (should be a dark gray hexagon)</a:t>
            </a:r>
          </a:p>
          <a:p>
            <a:endParaRPr lang="en-US" sz="1200" dirty="0"/>
          </a:p>
          <a:p>
            <a:r>
              <a:rPr lang="en-US" sz="1200" dirty="0"/>
              <a:t>2. Right shape pattern across columns:</a:t>
            </a:r>
          </a:p>
          <a:p>
            <a:r>
              <a:rPr lang="en-US" sz="1200" dirty="0"/>
              <a:t>   - Row 1: Hexagon (dark gray) → Triangle (black) → Square (black)</a:t>
            </a:r>
          </a:p>
          <a:p>
            <a:r>
              <a:rPr lang="en-US" sz="1200" dirty="0"/>
              <a:t>   - Row 2: Triangle (dark gray) → Diamond (black) → Hexagon (black)</a:t>
            </a:r>
          </a:p>
          <a:p>
            <a:r>
              <a:rPr lang="en-US" sz="1200" dirty="0"/>
              <a:t>   - Row 3: Square (gray) → Hexagon (dark gray) → Missing piece (should be a triangle based on the pattern)</a:t>
            </a:r>
          </a:p>
          <a:p>
            <a:endParaRPr lang="en-US" sz="1200" dirty="0"/>
          </a:p>
          <a:p>
            <a:r>
              <a:rPr lang="en-US" sz="1200" dirty="0"/>
              <a:t>3. Shape type pattern for right shapes:</a:t>
            </a:r>
          </a:p>
          <a:p>
            <a:r>
              <a:rPr lang="en-US" sz="1200" dirty="0"/>
              <a:t>   - There appears to be a cycle of shapes: Hexagon → Triangle → Square/Diamond</a:t>
            </a:r>
          </a:p>
          <a:p>
            <a:r>
              <a:rPr lang="en-US" sz="1200" dirty="0"/>
              <a:t>    - Shapes in the right cell increase from Col to Col in each row. (missing piece should be big triangle)</a:t>
            </a:r>
          </a:p>
          <a:p>
            <a:endParaRPr lang="en-US" sz="1200" dirty="0"/>
          </a:p>
          <a:p>
            <a:r>
              <a:rPr lang="en-US" sz="1200" dirty="0"/>
              <a:t>4. Shape type pattern for left shapes:</a:t>
            </a:r>
          </a:p>
          <a:p>
            <a:r>
              <a:rPr lang="en-US" sz="1200" dirty="0"/>
              <a:t>- Shapes in the left cell increase from Col to Col in each row. (missing piece should be big Hexagon)</a:t>
            </a:r>
          </a:p>
          <a:p>
            <a:endParaRPr lang="en-US" sz="1200" dirty="0"/>
          </a:p>
          <a:p>
            <a:r>
              <a:rPr lang="en-US" sz="1200" dirty="0"/>
              <a:t>Based on these patterns, the missing piece should have:</a:t>
            </a:r>
          </a:p>
          <a:p>
            <a:r>
              <a:rPr lang="en-US" sz="1200" dirty="0"/>
              <a:t>- A hexagon on the left (following the pattern in Row 3)</a:t>
            </a:r>
          </a:p>
          <a:p>
            <a:r>
              <a:rPr lang="en-US" sz="1200" dirty="0"/>
              <a:t>- A triangle on the right (following the cycle pattern for right shapes)</a:t>
            </a:r>
          </a:p>
          <a:p>
            <a:r>
              <a:rPr lang="en-US" sz="1200" dirty="0"/>
              <a:t>- The left hexagon should maintain the progression of shading and size seen in Row 3</a:t>
            </a:r>
          </a:p>
          <a:p>
            <a:r>
              <a:rPr lang="en-US" sz="1200" dirty="0"/>
              <a:t>- The right triangle should be black or very dark (following the darkening pattern)</a:t>
            </a:r>
          </a:p>
          <a:p>
            <a:endParaRPr lang="en-US" sz="1200" dirty="0"/>
          </a:p>
          <a:p>
            <a:r>
              <a:rPr lang="en-US" sz="1200" dirty="0"/>
              <a:t>Looking at the answer choices, all options show a configuration with a hexagon on the left and a triangle on the right, which matches our expected pattern. The differences are in the shading and exact shape details.</a:t>
            </a:r>
          </a:p>
          <a:p>
            <a:endParaRPr lang="en-US" sz="1200" dirty="0"/>
          </a:p>
          <a:p>
            <a:r>
              <a:rPr lang="en-US" sz="1200" dirty="0"/>
              <a:t>After examining all the choices, Choice 0 appears to be the most suitable answer. It shows:</a:t>
            </a:r>
          </a:p>
          <a:p>
            <a:r>
              <a:rPr lang="en-US" sz="1200" dirty="0"/>
              <a:t>1. A dark gray hexagon on the left that follows the shading progression seen in Row 3 .</a:t>
            </a:r>
          </a:p>
          <a:p>
            <a:r>
              <a:rPr lang="en-US" sz="1200" dirty="0"/>
              <a:t>2. A black triangle on the right that follows the darkening pattern across columns</a:t>
            </a:r>
          </a:p>
          <a:p>
            <a:r>
              <a:rPr lang="en-US" sz="1200" dirty="0"/>
              <a:t>3. The shapes maintain consistent proportions with what we see in the rest of the matrix</a:t>
            </a:r>
          </a:p>
        </p:txBody>
      </p:sp>
    </p:spTree>
    <p:extLst>
      <p:ext uri="{BB962C8B-B14F-4D97-AF65-F5344CB8AC3E}">
        <p14:creationId xmlns:p14="http://schemas.microsoft.com/office/powerpoint/2010/main" val="3433575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3D84074-ABAD-C790-2F94-4E695E48E7AE}"/>
              </a:ext>
            </a:extLst>
          </p:cNvPr>
          <p:cNvGrpSpPr/>
          <p:nvPr/>
        </p:nvGrpSpPr>
        <p:grpSpPr>
          <a:xfrm>
            <a:off x="4441917" y="305046"/>
            <a:ext cx="3308165" cy="3308166"/>
            <a:chOff x="5164830" y="251780"/>
            <a:chExt cx="3308165" cy="3308166"/>
          </a:xfrm>
        </p:grpSpPr>
        <p:pic>
          <p:nvPicPr>
            <p:cNvPr id="3" name="Picture 2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CA13280E-DCB2-9D86-56EE-52E514034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64830" y="251780"/>
              <a:ext cx="1017726" cy="1017726"/>
            </a:xfrm>
            <a:prstGeom prst="rect">
              <a:avLst/>
            </a:prstGeom>
          </p:spPr>
        </p:pic>
        <p:pic>
          <p:nvPicPr>
            <p:cNvPr id="5" name="Picture 4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D011D653-201D-814C-87F3-021CFA274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4439" y="251780"/>
              <a:ext cx="1017726" cy="1017726"/>
            </a:xfrm>
            <a:prstGeom prst="rect">
              <a:avLst/>
            </a:prstGeom>
          </p:spPr>
        </p:pic>
        <p:pic>
          <p:nvPicPr>
            <p:cNvPr id="7" name="Picture 6" descr="A blue and yellow image of a square&#10;&#10;AI-generated content may be incorrect.">
              <a:extLst>
                <a:ext uri="{FF2B5EF4-FFF2-40B4-BE49-F238E27FC236}">
                  <a16:creationId xmlns:a16="http://schemas.microsoft.com/office/drawing/2014/main" id="{9A494765-1698-F822-3DC4-329F9CBDA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55269" y="260658"/>
              <a:ext cx="1017726" cy="1017726"/>
            </a:xfrm>
            <a:prstGeom prst="rect">
              <a:avLst/>
            </a:prstGeom>
          </p:spPr>
        </p:pic>
        <p:pic>
          <p:nvPicPr>
            <p:cNvPr id="9" name="Picture 8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086F85BE-8D56-4271-5A2D-F147EFDFD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64830" y="1397000"/>
              <a:ext cx="1017726" cy="1017726"/>
            </a:xfrm>
            <a:prstGeom prst="rect">
              <a:avLst/>
            </a:prstGeom>
          </p:spPr>
        </p:pic>
        <p:pic>
          <p:nvPicPr>
            <p:cNvPr id="11" name="Picture 10" descr="A screenshot of a screenshot of a screenshot of a screenshot of a screenshot of a screenshot of a screenshot of a screenshot of a screenshot of a screenshot&#10;&#10;AI-generated content may be incorrect.">
              <a:extLst>
                <a:ext uri="{FF2B5EF4-FFF2-40B4-BE49-F238E27FC236}">
                  <a16:creationId xmlns:a16="http://schemas.microsoft.com/office/drawing/2014/main" id="{A9E455BB-94F3-6970-E557-2B3D8CA49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54439" y="1397000"/>
              <a:ext cx="1017726" cy="1017726"/>
            </a:xfrm>
            <a:prstGeom prst="rect">
              <a:avLst/>
            </a:prstGeom>
          </p:spPr>
        </p:pic>
        <p:pic>
          <p:nvPicPr>
            <p:cNvPr id="13" name="Picture 12" descr="A screenshot of a screenshot of a screen&#10;&#10;AI-generated content may be incorrect.">
              <a:extLst>
                <a:ext uri="{FF2B5EF4-FFF2-40B4-BE49-F238E27FC236}">
                  <a16:creationId xmlns:a16="http://schemas.microsoft.com/office/drawing/2014/main" id="{61D5A3E3-EBD2-84C2-7765-44BE30E9B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55269" y="1397000"/>
              <a:ext cx="1017726" cy="1017726"/>
            </a:xfrm>
            <a:prstGeom prst="rect">
              <a:avLst/>
            </a:prstGeom>
          </p:spPr>
        </p:pic>
        <p:pic>
          <p:nvPicPr>
            <p:cNvPr id="15" name="Picture 14" descr="A blue and yellow hexagon with a square&#10;&#10;AI-generated content may be incorrect.">
              <a:extLst>
                <a:ext uri="{FF2B5EF4-FFF2-40B4-BE49-F238E27FC236}">
                  <a16:creationId xmlns:a16="http://schemas.microsoft.com/office/drawing/2014/main" id="{A3CE5749-D209-47DB-AEA0-ABCBE5327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09220" y="2539384"/>
              <a:ext cx="1017726" cy="1017726"/>
            </a:xfrm>
            <a:prstGeom prst="rect">
              <a:avLst/>
            </a:prstGeom>
          </p:spPr>
        </p:pic>
        <p:pic>
          <p:nvPicPr>
            <p:cNvPr id="17" name="Picture 16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8ABCF234-9D0E-D738-2BA1-C348AA56F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54439" y="2542220"/>
              <a:ext cx="1017726" cy="1017726"/>
            </a:xfrm>
            <a:prstGeom prst="rect">
              <a:avLst/>
            </a:prstGeom>
          </p:spPr>
        </p:pic>
      </p:grpSp>
      <p:pic>
        <p:nvPicPr>
          <p:cNvPr id="20" name="Picture 19" descr="A screenshot of a graph&#10;&#10;AI-generated content may be incorrect.">
            <a:extLst>
              <a:ext uri="{FF2B5EF4-FFF2-40B4-BE49-F238E27FC236}">
                <a16:creationId xmlns:a16="http://schemas.microsoft.com/office/drawing/2014/main" id="{64E51D4B-D06E-7BF5-61C7-29FE75D3DE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4016" y="4187610"/>
            <a:ext cx="1195650" cy="1195650"/>
          </a:xfrm>
          <a:prstGeom prst="rect">
            <a:avLst/>
          </a:prstGeom>
        </p:spPr>
      </p:pic>
      <p:pic>
        <p:nvPicPr>
          <p:cNvPr id="22" name="Picture 21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F8D3F94F-AC0F-05A5-EA87-ABB93B1371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3422" y="4187610"/>
            <a:ext cx="1195650" cy="1195650"/>
          </a:xfrm>
          <a:prstGeom prst="rect">
            <a:avLst/>
          </a:prstGeom>
        </p:spPr>
      </p:pic>
      <p:pic>
        <p:nvPicPr>
          <p:cNvPr id="24" name="Picture 23" descr="A screenshot of a graph&#10;&#10;AI-generated content may be incorrect.">
            <a:extLst>
              <a:ext uri="{FF2B5EF4-FFF2-40B4-BE49-F238E27FC236}">
                <a16:creationId xmlns:a16="http://schemas.microsoft.com/office/drawing/2014/main" id="{C53580E6-137F-4D1C-66DC-7AB45EE494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2828" y="4187610"/>
            <a:ext cx="1195650" cy="1195650"/>
          </a:xfrm>
          <a:prstGeom prst="rect">
            <a:avLst/>
          </a:prstGeom>
        </p:spPr>
      </p:pic>
      <p:pic>
        <p:nvPicPr>
          <p:cNvPr id="26" name="Picture 25" descr="A screenshot of a graph&#10;&#10;AI-generated content may be incorrect.">
            <a:extLst>
              <a:ext uri="{FF2B5EF4-FFF2-40B4-BE49-F238E27FC236}">
                <a16:creationId xmlns:a16="http://schemas.microsoft.com/office/drawing/2014/main" id="{4CEBCA06-44FE-782A-EA34-C98445931C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43431" y="4187610"/>
            <a:ext cx="1195650" cy="1195650"/>
          </a:xfrm>
          <a:prstGeom prst="rect">
            <a:avLst/>
          </a:prstGeom>
        </p:spPr>
      </p:pic>
      <p:pic>
        <p:nvPicPr>
          <p:cNvPr id="28" name="Picture 27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3A421AD3-A6B7-CD97-AA9F-E3EF4FAEFA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4034" y="4187610"/>
            <a:ext cx="1195650" cy="1195650"/>
          </a:xfrm>
          <a:prstGeom prst="rect">
            <a:avLst/>
          </a:prstGeom>
        </p:spPr>
      </p:pic>
      <p:pic>
        <p:nvPicPr>
          <p:cNvPr id="30" name="Picture 2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2E74C2E-3335-DADF-D2A9-7AB6AF3A36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3440" y="4187610"/>
            <a:ext cx="1195650" cy="1195650"/>
          </a:xfrm>
          <a:prstGeom prst="rect">
            <a:avLst/>
          </a:prstGeom>
        </p:spPr>
      </p:pic>
      <p:pic>
        <p:nvPicPr>
          <p:cNvPr id="32" name="Picture 31" descr="A screenshot of a graph&#10;&#10;AI-generated content may be incorrect.">
            <a:extLst>
              <a:ext uri="{FF2B5EF4-FFF2-40B4-BE49-F238E27FC236}">
                <a16:creationId xmlns:a16="http://schemas.microsoft.com/office/drawing/2014/main" id="{35393FE1-71AA-06E8-843B-C13489967EB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2846" y="4187610"/>
            <a:ext cx="1195650" cy="1195650"/>
          </a:xfrm>
          <a:prstGeom prst="rect">
            <a:avLst/>
          </a:prstGeom>
        </p:spPr>
      </p:pic>
      <p:pic>
        <p:nvPicPr>
          <p:cNvPr id="34" name="Picture 3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74B7B440-32D4-C782-D8D2-99202C02B1C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22252" y="4187610"/>
            <a:ext cx="1195650" cy="11956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4005E10-C3D4-23F5-D69F-806044A974F1}"/>
              </a:ext>
            </a:extLst>
          </p:cNvPr>
          <p:cNvSpPr txBox="1"/>
          <p:nvPr/>
        </p:nvSpPr>
        <p:spPr>
          <a:xfrm>
            <a:off x="1997726" y="5487540"/>
            <a:ext cx="946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1                         2                            3                           4                            5                           6                       7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  <p:pic>
        <p:nvPicPr>
          <p:cNvPr id="36" name="Picture 3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C4336E52-A084-56DF-967F-6688EA1CB68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79645" y="313924"/>
            <a:ext cx="8382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65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6BD45-DF2D-2143-7F97-6116B8815278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LLM-7108</a:t>
            </a:r>
          </a:p>
          <a:p>
            <a:pPr marL="0" algn="l" defTabSz="914400" eaLnBrk="1" latinLnBrk="0" hangingPunct="1"/>
            <a:r>
              <a:rPr lang="en-US" dirty="0" err="1"/>
              <a:t>left_center_single_right_center_single</a:t>
            </a:r>
            <a:endParaRPr lang="en-US" dirty="0"/>
          </a:p>
          <a:p>
            <a:r>
              <a:rPr lang="en-US" dirty="0" err="1"/>
              <a:t>llm</a:t>
            </a:r>
            <a:r>
              <a:rPr lang="en-US" dirty="0"/>
              <a:t> pred: </a:t>
            </a:r>
            <a:r>
              <a:rPr lang="he-IL" dirty="0"/>
              <a:t>7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</a:t>
            </a:r>
            <a:r>
              <a:rPr lang="he-IL" dirty="0"/>
              <a:t>6</a:t>
            </a:r>
          </a:p>
          <a:p>
            <a:r>
              <a:rPr lang="en-US" dirty="0"/>
              <a:t>true: 5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FBC46-4F77-1047-9CAF-B5C78B08E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973" y="173326"/>
            <a:ext cx="4862799" cy="495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87A2FF-2860-7A37-7E40-1BC007440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731" y="5128925"/>
            <a:ext cx="9765323" cy="155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73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FBEB99-D914-BCFB-EF84-5B6E2EFB7D3F}"/>
              </a:ext>
            </a:extLst>
          </p:cNvPr>
          <p:cNvSpPr txBox="1"/>
          <p:nvPr/>
        </p:nvSpPr>
        <p:spPr>
          <a:xfrm>
            <a:off x="254000" y="58846"/>
            <a:ext cx="9525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Row 1:</a:t>
            </a:r>
          </a:p>
          <a:p>
            <a:r>
              <a:rPr lang="en-US" sz="1200" dirty="0"/>
              <a:t>- All cells contain light gray or white shapes </a:t>
            </a:r>
          </a:p>
          <a:p>
            <a:r>
              <a:rPr lang="en-US" sz="1200" dirty="0"/>
              <a:t>- Col 1: small light gray triangle pointing up, small white triangle pointing down</a:t>
            </a:r>
          </a:p>
          <a:p>
            <a:r>
              <a:rPr lang="en-US" sz="1200" dirty="0"/>
              <a:t>- Col 2: big white pentagon, medium white pentagon</a:t>
            </a:r>
          </a:p>
          <a:p>
            <a:r>
              <a:rPr lang="en-US" sz="1200" dirty="0"/>
              <a:t>- Col 3: big gray circle, big white circle</a:t>
            </a:r>
          </a:p>
          <a:p>
            <a:endParaRPr lang="en-US" sz="1200" dirty="0"/>
          </a:p>
          <a:p>
            <a:r>
              <a:rPr lang="en-US" sz="1200" dirty="0"/>
              <a:t>Row 2:</a:t>
            </a:r>
          </a:p>
          <a:p>
            <a:r>
              <a:rPr lang="en-US" sz="1200" dirty="0"/>
              <a:t>- All cells contain darker shapes</a:t>
            </a:r>
          </a:p>
          <a:p>
            <a:r>
              <a:rPr lang="en-US" sz="1200" dirty="0"/>
              <a:t>- Col 1: bit dark gray triangle pointing up, small black triangle pointing right</a:t>
            </a:r>
          </a:p>
          <a:p>
            <a:r>
              <a:rPr lang="en-US" sz="1200" dirty="0"/>
              <a:t>- Col 2: big dark gray pentagon, medium black pentagon</a:t>
            </a:r>
          </a:p>
          <a:p>
            <a:r>
              <a:rPr lang="en-US" sz="1200" dirty="0"/>
              <a:t>- Col 3: small gray circle, big black circle</a:t>
            </a:r>
          </a:p>
          <a:p>
            <a:endParaRPr lang="en-US" sz="1200" dirty="0"/>
          </a:p>
          <a:p>
            <a:r>
              <a:rPr lang="en-US" sz="1200" dirty="0"/>
              <a:t>Row 3 (incomplete):</a:t>
            </a:r>
          </a:p>
          <a:p>
            <a:r>
              <a:rPr lang="en-US" sz="1200" dirty="0"/>
              <a:t>- Col 1: big black triangle pointing down, small light gray triangle pointing left</a:t>
            </a:r>
          </a:p>
          <a:p>
            <a:r>
              <a:rPr lang="en-US" sz="1200" dirty="0"/>
              <a:t>- Col 2: small white pentagon, light gray pentagon</a:t>
            </a:r>
          </a:p>
          <a:p>
            <a:r>
              <a:rPr lang="en-US" sz="1200" dirty="0"/>
              <a:t>- Col 3: missing piece we need to identify</a:t>
            </a:r>
          </a:p>
          <a:p>
            <a:endParaRPr lang="en-US" sz="1200" dirty="0"/>
          </a:p>
          <a:p>
            <a:r>
              <a:rPr lang="en-US" sz="1200" dirty="0"/>
              <a:t>Column 3 pattern:</a:t>
            </a:r>
          </a:p>
          <a:p>
            <a:r>
              <a:rPr lang="en-US" sz="1200" dirty="0"/>
              <a:t>- Top cell: big light gray circle, big white circle</a:t>
            </a:r>
          </a:p>
          <a:p>
            <a:r>
              <a:rPr lang="en-US" sz="1200" dirty="0"/>
              <a:t>- Middle cell: small gray circle, big black circle</a:t>
            </a:r>
          </a:p>
          <a:p>
            <a:r>
              <a:rPr lang="en-US" sz="1200" dirty="0"/>
              <a:t>- Bottom cell (missing): should follow the pattern (should be 2 circles)</a:t>
            </a:r>
          </a:p>
          <a:p>
            <a:endParaRPr lang="en-US" sz="1200" dirty="0"/>
          </a:p>
          <a:p>
            <a:r>
              <a:rPr lang="en-US" sz="1200" dirty="0"/>
              <a:t>Based on these observations, I can identify several key patterns:</a:t>
            </a:r>
          </a:p>
          <a:p>
            <a:r>
              <a:rPr lang="en-US" sz="1200" dirty="0"/>
              <a:t>1. Each row follows a consistent color scheme</a:t>
            </a:r>
          </a:p>
          <a:p>
            <a:r>
              <a:rPr lang="en-US" sz="1200" dirty="0"/>
              <a:t>2. Row 3 alternates between black/white and light gray shapes</a:t>
            </a:r>
          </a:p>
          <a:p>
            <a:r>
              <a:rPr lang="en-US" sz="1200" dirty="0"/>
              <a:t>3. Shape types are consistent within columns (triangles in column 1, pentagons in column 2, circles in column 3)</a:t>
            </a:r>
          </a:p>
          <a:p>
            <a:r>
              <a:rPr lang="en-US" sz="1200" dirty="0"/>
              <a:t>4. There's a specific transformation happening with colors and sizes</a:t>
            </a:r>
          </a:p>
          <a:p>
            <a:endParaRPr lang="en-US" sz="1200" dirty="0"/>
          </a:p>
          <a:p>
            <a:r>
              <a:rPr lang="en-US" sz="1200" dirty="0"/>
              <a:t>The missing piece should contain circles (following column 3's pattern) with a black/white circle and a light gray circle (following row 3's pattern). Looking at the choices, this would be a small black circle and a larger light gray circle.</a:t>
            </a:r>
          </a:p>
          <a:p>
            <a:endParaRPr lang="en-US" sz="1200" dirty="0"/>
          </a:p>
          <a:p>
            <a:r>
              <a:rPr lang="en-US" sz="1200" dirty="0"/>
              <a:t>Examining the answer choices, Choice 7 appears to be the correct answer, as it shows a small black circle and a larger light gray circle, maintaining both the shape pattern of column 3 and the color pattern of row 3.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1502472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E97951F-9F8E-38D3-A270-52C3E4A3A1C9}"/>
              </a:ext>
            </a:extLst>
          </p:cNvPr>
          <p:cNvGrpSpPr/>
          <p:nvPr/>
        </p:nvGrpSpPr>
        <p:grpSpPr>
          <a:xfrm>
            <a:off x="4472372" y="296169"/>
            <a:ext cx="3379187" cy="3343676"/>
            <a:chOff x="4907378" y="997505"/>
            <a:chExt cx="3379187" cy="3343676"/>
          </a:xfrm>
        </p:grpSpPr>
        <p:pic>
          <p:nvPicPr>
            <p:cNvPr id="3" name="Picture 2" descr="A screenshot of a screen&#10;&#10;AI-generated content may be incorrect.">
              <a:extLst>
                <a:ext uri="{FF2B5EF4-FFF2-40B4-BE49-F238E27FC236}">
                  <a16:creationId xmlns:a16="http://schemas.microsoft.com/office/drawing/2014/main" id="{6FFF8FA9-4841-4370-1AA2-CECF95BE1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07378" y="997505"/>
              <a:ext cx="1035482" cy="1035482"/>
            </a:xfrm>
            <a:prstGeom prst="rect">
              <a:avLst/>
            </a:prstGeom>
          </p:spPr>
        </p:pic>
        <p:pic>
          <p:nvPicPr>
            <p:cNvPr id="5" name="Picture 4" descr="A screenshot of a screenshot of a hexagon&#10;&#10;AI-generated content may be incorrect.">
              <a:extLst>
                <a:ext uri="{FF2B5EF4-FFF2-40B4-BE49-F238E27FC236}">
                  <a16:creationId xmlns:a16="http://schemas.microsoft.com/office/drawing/2014/main" id="{C2A8026E-4432-BE35-B125-72ECA7E0F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79230" y="997505"/>
              <a:ext cx="1035482" cy="1035482"/>
            </a:xfrm>
            <a:prstGeom prst="rect">
              <a:avLst/>
            </a:prstGeom>
          </p:spPr>
        </p:pic>
        <p:pic>
          <p:nvPicPr>
            <p:cNvPr id="7" name="Picture 6" descr="A screenshot of a screen&#10;&#10;AI-generated content may be incorrect.">
              <a:extLst>
                <a:ext uri="{FF2B5EF4-FFF2-40B4-BE49-F238E27FC236}">
                  <a16:creationId xmlns:a16="http://schemas.microsoft.com/office/drawing/2014/main" id="{2F50D318-0620-BCD8-CE74-9AE30DDA1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51083" y="997505"/>
              <a:ext cx="1035482" cy="1035482"/>
            </a:xfrm>
            <a:prstGeom prst="rect">
              <a:avLst/>
            </a:prstGeom>
          </p:spPr>
        </p:pic>
        <p:pic>
          <p:nvPicPr>
            <p:cNvPr id="9" name="Picture 8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7BA9E10A-4E2B-D254-8CAF-CAB80682B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07378" y="2151602"/>
              <a:ext cx="1035482" cy="1035482"/>
            </a:xfrm>
            <a:prstGeom prst="rect">
              <a:avLst/>
            </a:prstGeom>
          </p:spPr>
        </p:pic>
        <p:pic>
          <p:nvPicPr>
            <p:cNvPr id="11" name="Picture 10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495663E5-A6DE-5BC2-1FFE-851E7D6DB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6000" y="2151602"/>
              <a:ext cx="1035482" cy="1035482"/>
            </a:xfrm>
            <a:prstGeom prst="rect">
              <a:avLst/>
            </a:prstGeom>
          </p:spPr>
        </p:pic>
        <p:pic>
          <p:nvPicPr>
            <p:cNvPr id="13" name="Picture 12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913A857-73D0-E013-7837-0E586C723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51083" y="2151602"/>
              <a:ext cx="1035482" cy="1035482"/>
            </a:xfrm>
            <a:prstGeom prst="rect">
              <a:avLst/>
            </a:prstGeom>
          </p:spPr>
        </p:pic>
        <p:pic>
          <p:nvPicPr>
            <p:cNvPr id="15" name="Picture 14" descr="A screenshot of a screen&#10;&#10;AI-generated content may be incorrect.">
              <a:extLst>
                <a:ext uri="{FF2B5EF4-FFF2-40B4-BE49-F238E27FC236}">
                  <a16:creationId xmlns:a16="http://schemas.microsoft.com/office/drawing/2014/main" id="{A9064B06-F3C7-CC9C-2C1A-D11869BC6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07378" y="3305699"/>
              <a:ext cx="1035482" cy="1035482"/>
            </a:xfrm>
            <a:prstGeom prst="rect">
              <a:avLst/>
            </a:prstGeom>
          </p:spPr>
        </p:pic>
        <p:pic>
          <p:nvPicPr>
            <p:cNvPr id="17" name="Picture 16" descr="A screenshot of a screenshot of a hexagon&#10;&#10;AI-generated content may be incorrect.">
              <a:extLst>
                <a:ext uri="{FF2B5EF4-FFF2-40B4-BE49-F238E27FC236}">
                  <a16:creationId xmlns:a16="http://schemas.microsoft.com/office/drawing/2014/main" id="{0476626A-09B7-0E89-1177-527DA5E05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96000" y="3305699"/>
              <a:ext cx="1035482" cy="1035482"/>
            </a:xfrm>
            <a:prstGeom prst="rect">
              <a:avLst/>
            </a:prstGeom>
          </p:spPr>
        </p:pic>
      </p:grpSp>
      <p:pic>
        <p:nvPicPr>
          <p:cNvPr id="20" name="Picture 19" descr="A screenshot of a heat map&#10;&#10;AI-generated content may be incorrect.">
            <a:extLst>
              <a:ext uri="{FF2B5EF4-FFF2-40B4-BE49-F238E27FC236}">
                <a16:creationId xmlns:a16="http://schemas.microsoft.com/office/drawing/2014/main" id="{EAC4F147-0C20-ED29-B321-A59EFCDA99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0102" y="4439204"/>
            <a:ext cx="1207363" cy="1207363"/>
          </a:xfrm>
          <a:prstGeom prst="rect">
            <a:avLst/>
          </a:prstGeom>
        </p:spPr>
      </p:pic>
      <p:pic>
        <p:nvPicPr>
          <p:cNvPr id="22" name="Picture 21" descr="A screenshot of a graph&#10;&#10;AI-generated content may be incorrect.">
            <a:extLst>
              <a:ext uri="{FF2B5EF4-FFF2-40B4-BE49-F238E27FC236}">
                <a16:creationId xmlns:a16="http://schemas.microsoft.com/office/drawing/2014/main" id="{28F71A09-2925-82F2-3856-F6A1343BCA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7707" y="4439204"/>
            <a:ext cx="1207363" cy="1207363"/>
          </a:xfrm>
          <a:prstGeom prst="rect">
            <a:avLst/>
          </a:prstGeom>
        </p:spPr>
      </p:pic>
      <p:pic>
        <p:nvPicPr>
          <p:cNvPr id="24" name="Picture 23" descr="A screenshot of a heat map&#10;&#10;AI-generated content may be incorrect.">
            <a:extLst>
              <a:ext uri="{FF2B5EF4-FFF2-40B4-BE49-F238E27FC236}">
                <a16:creationId xmlns:a16="http://schemas.microsoft.com/office/drawing/2014/main" id="{B546DB10-BD3A-26F4-343A-4C4B9D4E02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81266" y="4439204"/>
            <a:ext cx="1207363" cy="1207363"/>
          </a:xfrm>
          <a:prstGeom prst="rect">
            <a:avLst/>
          </a:prstGeom>
        </p:spPr>
      </p:pic>
      <p:pic>
        <p:nvPicPr>
          <p:cNvPr id="26" name="Picture 25" descr="A screenshot of a heat map&#10;&#10;AI-generated content may be incorrect.">
            <a:extLst>
              <a:ext uri="{FF2B5EF4-FFF2-40B4-BE49-F238E27FC236}">
                <a16:creationId xmlns:a16="http://schemas.microsoft.com/office/drawing/2014/main" id="{046EF3EB-D35D-0345-833D-01B5BE36C5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8871" y="4439204"/>
            <a:ext cx="1207363" cy="1207363"/>
          </a:xfrm>
          <a:prstGeom prst="rect">
            <a:avLst/>
          </a:prstGeom>
        </p:spPr>
      </p:pic>
      <p:pic>
        <p:nvPicPr>
          <p:cNvPr id="28" name="Picture 27" descr="A screenshot of a heat map&#10;&#10;AI-generated content may be incorrect.">
            <a:extLst>
              <a:ext uri="{FF2B5EF4-FFF2-40B4-BE49-F238E27FC236}">
                <a16:creationId xmlns:a16="http://schemas.microsoft.com/office/drawing/2014/main" id="{E849FC00-F4D7-3FBC-270C-791449D7D7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6476" y="4424284"/>
            <a:ext cx="1207363" cy="1207363"/>
          </a:xfrm>
          <a:prstGeom prst="rect">
            <a:avLst/>
          </a:prstGeom>
        </p:spPr>
      </p:pic>
      <p:pic>
        <p:nvPicPr>
          <p:cNvPr id="30" name="Picture 29" descr="A screenshot of a heat map&#10;&#10;AI-generated content may be incorrect.">
            <a:extLst>
              <a:ext uri="{FF2B5EF4-FFF2-40B4-BE49-F238E27FC236}">
                <a16:creationId xmlns:a16="http://schemas.microsoft.com/office/drawing/2014/main" id="{242B8AEE-015A-E27B-0A04-6AC962B538A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80035" y="4424284"/>
            <a:ext cx="1207363" cy="1207363"/>
          </a:xfrm>
          <a:prstGeom prst="rect">
            <a:avLst/>
          </a:prstGeom>
        </p:spPr>
      </p:pic>
      <p:pic>
        <p:nvPicPr>
          <p:cNvPr id="32" name="Picture 31" descr="A screenshot of a heat map&#10;&#10;AI-generated content may be incorrect.">
            <a:extLst>
              <a:ext uri="{FF2B5EF4-FFF2-40B4-BE49-F238E27FC236}">
                <a16:creationId xmlns:a16="http://schemas.microsoft.com/office/drawing/2014/main" id="{CCF282F0-B4F6-9CB0-5351-529232918E9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11686" y="4424285"/>
            <a:ext cx="1207363" cy="1207363"/>
          </a:xfrm>
          <a:prstGeom prst="rect">
            <a:avLst/>
          </a:prstGeom>
        </p:spPr>
      </p:pic>
      <p:pic>
        <p:nvPicPr>
          <p:cNvPr id="34" name="Picture 33" descr="A screenshot of a heat map&#10;&#10;AI-generated content may be incorrect.">
            <a:extLst>
              <a:ext uri="{FF2B5EF4-FFF2-40B4-BE49-F238E27FC236}">
                <a16:creationId xmlns:a16="http://schemas.microsoft.com/office/drawing/2014/main" id="{9BA78161-4F64-31E8-9C5A-1AF1ED6112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43337" y="4424285"/>
            <a:ext cx="1207363" cy="120736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64638E8-1D1C-68F2-6727-2E7E5AF9E865}"/>
              </a:ext>
            </a:extLst>
          </p:cNvPr>
          <p:cNvSpPr txBox="1"/>
          <p:nvPr/>
        </p:nvSpPr>
        <p:spPr>
          <a:xfrm>
            <a:off x="1811604" y="5777876"/>
            <a:ext cx="946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1                         2                            3                           4                            5                           6                       7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  <p:pic>
        <p:nvPicPr>
          <p:cNvPr id="36" name="Picture 35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473C0AAA-919D-AF4E-9704-F9052C559D5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93523" y="604260"/>
            <a:ext cx="8382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40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3C7C6D-62E1-C18E-16D3-152CB2664684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OS-128</a:t>
            </a:r>
          </a:p>
          <a:p>
            <a:r>
              <a:rPr lang="en-US" dirty="0" err="1"/>
              <a:t>left_center_single_right_center_single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 6</a:t>
            </a:r>
          </a:p>
          <a:p>
            <a:r>
              <a:rPr lang="en-US" dirty="0" err="1"/>
              <a:t>llm</a:t>
            </a:r>
            <a:r>
              <a:rPr lang="en-US" dirty="0"/>
              <a:t> pred:</a:t>
            </a:r>
            <a:r>
              <a:rPr lang="he-IL" dirty="0"/>
              <a:t> 1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7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7EBF7-FA34-2E12-697D-A655CF1E4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121" y="145000"/>
            <a:ext cx="5026969" cy="5084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FF4E93-1F02-692A-2257-7D3663D14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221" y="5297273"/>
            <a:ext cx="9272862" cy="143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90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140B3CF1-53D6-A364-DD93-C77E098E4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031" y="0"/>
            <a:ext cx="1046965" cy="3621843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618096E-1A4B-D9CD-623D-03C53474114D}"/>
              </a:ext>
            </a:extLst>
          </p:cNvPr>
          <p:cNvGrpSpPr/>
          <p:nvPr/>
        </p:nvGrpSpPr>
        <p:grpSpPr>
          <a:xfrm>
            <a:off x="4228985" y="179496"/>
            <a:ext cx="3232968" cy="3262850"/>
            <a:chOff x="4556789" y="689632"/>
            <a:chExt cx="3232968" cy="3262850"/>
          </a:xfrm>
        </p:grpSpPr>
        <p:pic>
          <p:nvPicPr>
            <p:cNvPr id="4" name="Picture 3" descr="A blue and yellow grid with a black circle and a blue hexagon&#10;&#10;AI-generated content may be incorrect.">
              <a:extLst>
                <a:ext uri="{FF2B5EF4-FFF2-40B4-BE49-F238E27FC236}">
                  <a16:creationId xmlns:a16="http://schemas.microsoft.com/office/drawing/2014/main" id="{5FC2D343-76D8-4F8E-AB86-2B4793FDC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6789" y="689632"/>
              <a:ext cx="1046965" cy="1046965"/>
            </a:xfrm>
            <a:prstGeom prst="rect">
              <a:avLst/>
            </a:prstGeom>
          </p:spPr>
        </p:pic>
        <p:pic>
          <p:nvPicPr>
            <p:cNvPr id="8" name="Picture 7" descr="A screenshot of a video game&#10;&#10;AI-generated content may be incorrect.">
              <a:extLst>
                <a:ext uri="{FF2B5EF4-FFF2-40B4-BE49-F238E27FC236}">
                  <a16:creationId xmlns:a16="http://schemas.microsoft.com/office/drawing/2014/main" id="{52F959A4-369E-25CF-EA29-73287FD33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34445" y="689633"/>
              <a:ext cx="1046965" cy="1046965"/>
            </a:xfrm>
            <a:prstGeom prst="rect">
              <a:avLst/>
            </a:prstGeom>
          </p:spPr>
        </p:pic>
        <p:pic>
          <p:nvPicPr>
            <p:cNvPr id="12" name="Picture 11" descr="A screenshot of a heat map&#10;&#10;AI-generated content may be incorrect.">
              <a:extLst>
                <a:ext uri="{FF2B5EF4-FFF2-40B4-BE49-F238E27FC236}">
                  <a16:creationId xmlns:a16="http://schemas.microsoft.com/office/drawing/2014/main" id="{07E07F3A-2969-5805-840C-DDE468D65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42792" y="689634"/>
              <a:ext cx="1046965" cy="1046965"/>
            </a:xfrm>
            <a:prstGeom prst="rect">
              <a:avLst/>
            </a:prstGeom>
          </p:spPr>
        </p:pic>
        <p:pic>
          <p:nvPicPr>
            <p:cNvPr id="16" name="Picture 15" descr="A blue and yellow squares with a triangle and a black circle&#10;&#10;AI-generated content may be incorrect.">
              <a:extLst>
                <a:ext uri="{FF2B5EF4-FFF2-40B4-BE49-F238E27FC236}">
                  <a16:creationId xmlns:a16="http://schemas.microsoft.com/office/drawing/2014/main" id="{3602D924-6F21-D0B5-8728-47E204325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87480" y="1806166"/>
              <a:ext cx="1046965" cy="1046965"/>
            </a:xfrm>
            <a:prstGeom prst="rect">
              <a:avLst/>
            </a:prstGeom>
          </p:spPr>
        </p:pic>
        <p:pic>
          <p:nvPicPr>
            <p:cNvPr id="20" name="Picture 19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517BFE70-FA3A-0D73-0B7A-0C1B0343E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65136" y="1810920"/>
              <a:ext cx="1046965" cy="1046965"/>
            </a:xfrm>
            <a:prstGeom prst="rect">
              <a:avLst/>
            </a:prstGeom>
          </p:spPr>
        </p:pic>
        <p:pic>
          <p:nvPicPr>
            <p:cNvPr id="24" name="Picture 23" descr="A screenshot of a heat map&#10;&#10;AI-generated content may be incorrect.">
              <a:extLst>
                <a:ext uri="{FF2B5EF4-FFF2-40B4-BE49-F238E27FC236}">
                  <a16:creationId xmlns:a16="http://schemas.microsoft.com/office/drawing/2014/main" id="{E1F41DD0-BC05-91E0-FBAC-2184973F7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42792" y="1810921"/>
              <a:ext cx="1046965" cy="1046965"/>
            </a:xfrm>
            <a:prstGeom prst="rect">
              <a:avLst/>
            </a:prstGeom>
          </p:spPr>
        </p:pic>
        <p:pic>
          <p:nvPicPr>
            <p:cNvPr id="28" name="Picture 27" descr="A screenshot of a heat map&#10;&#10;AI-generated content may be incorrect.">
              <a:extLst>
                <a:ext uri="{FF2B5EF4-FFF2-40B4-BE49-F238E27FC236}">
                  <a16:creationId xmlns:a16="http://schemas.microsoft.com/office/drawing/2014/main" id="{A9C63D19-9D0A-4988-2391-204D029A1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87482" y="2905516"/>
              <a:ext cx="1046965" cy="1046965"/>
            </a:xfrm>
            <a:prstGeom prst="rect">
              <a:avLst/>
            </a:prstGeom>
          </p:spPr>
        </p:pic>
        <p:pic>
          <p:nvPicPr>
            <p:cNvPr id="32" name="Picture 31" descr="A screenshot of a heat image&#10;&#10;AI-generated content may be incorrect.">
              <a:extLst>
                <a:ext uri="{FF2B5EF4-FFF2-40B4-BE49-F238E27FC236}">
                  <a16:creationId xmlns:a16="http://schemas.microsoft.com/office/drawing/2014/main" id="{D85853E4-A828-89FA-542E-FE948A426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77140" y="2905517"/>
              <a:ext cx="1046965" cy="1046965"/>
            </a:xfrm>
            <a:prstGeom prst="rect">
              <a:avLst/>
            </a:prstGeom>
          </p:spPr>
        </p:pic>
      </p:grpSp>
      <p:pic>
        <p:nvPicPr>
          <p:cNvPr id="38" name="Picture 37" descr="A screenshot of a graph&#10;&#10;AI-generated content may be incorrect.">
            <a:extLst>
              <a:ext uri="{FF2B5EF4-FFF2-40B4-BE49-F238E27FC236}">
                <a16:creationId xmlns:a16="http://schemas.microsoft.com/office/drawing/2014/main" id="{EFB0E258-650C-4A59-9324-D983676102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5260" y="4084042"/>
            <a:ext cx="1202667" cy="1202667"/>
          </a:xfrm>
          <a:prstGeom prst="rect">
            <a:avLst/>
          </a:prstGeom>
        </p:spPr>
      </p:pic>
      <p:pic>
        <p:nvPicPr>
          <p:cNvPr id="40" name="Picture 39" descr="A screenshot of a graph&#10;&#10;AI-generated content may be incorrect.">
            <a:extLst>
              <a:ext uri="{FF2B5EF4-FFF2-40B4-BE49-F238E27FC236}">
                <a16:creationId xmlns:a16="http://schemas.microsoft.com/office/drawing/2014/main" id="{FF0015D9-64F9-C3A3-6CC7-602A9D7AA54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8010" y="4069546"/>
            <a:ext cx="1202667" cy="1202667"/>
          </a:xfrm>
          <a:prstGeom prst="rect">
            <a:avLst/>
          </a:prstGeom>
        </p:spPr>
      </p:pic>
      <p:pic>
        <p:nvPicPr>
          <p:cNvPr id="42" name="Picture 41" descr="A screenshot of a graph&#10;&#10;AI-generated content may be incorrect.">
            <a:extLst>
              <a:ext uri="{FF2B5EF4-FFF2-40B4-BE49-F238E27FC236}">
                <a16:creationId xmlns:a16="http://schemas.microsoft.com/office/drawing/2014/main" id="{2E942306-72FE-3F70-80CD-F02AAF83DE2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7212" y="4069546"/>
            <a:ext cx="1202667" cy="1202667"/>
          </a:xfrm>
          <a:prstGeom prst="rect">
            <a:avLst/>
          </a:prstGeom>
        </p:spPr>
      </p:pic>
      <p:pic>
        <p:nvPicPr>
          <p:cNvPr id="44" name="Picture 43" descr="A screenshot of a heat map&#10;&#10;AI-generated content may be incorrect.">
            <a:extLst>
              <a:ext uri="{FF2B5EF4-FFF2-40B4-BE49-F238E27FC236}">
                <a16:creationId xmlns:a16="http://schemas.microsoft.com/office/drawing/2014/main" id="{3311CD64-54D8-E8FB-E48F-D6FEAD28A5C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61645" y="4069546"/>
            <a:ext cx="1202667" cy="1202667"/>
          </a:xfrm>
          <a:prstGeom prst="rect">
            <a:avLst/>
          </a:prstGeom>
        </p:spPr>
      </p:pic>
      <p:pic>
        <p:nvPicPr>
          <p:cNvPr id="46" name="Picture 45" descr="A screenshot of a graph&#10;&#10;AI-generated content may be incorrect.">
            <a:extLst>
              <a:ext uri="{FF2B5EF4-FFF2-40B4-BE49-F238E27FC236}">
                <a16:creationId xmlns:a16="http://schemas.microsoft.com/office/drawing/2014/main" id="{37ADC839-86A6-7A05-16AC-FAA54DEBB6B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3696" y="4045953"/>
            <a:ext cx="1202667" cy="1202667"/>
          </a:xfrm>
          <a:prstGeom prst="rect">
            <a:avLst/>
          </a:prstGeom>
        </p:spPr>
      </p:pic>
      <p:pic>
        <p:nvPicPr>
          <p:cNvPr id="48" name="Picture 47" descr="A screenshot of a graph&#10;&#10;AI-generated content may be incorrect.">
            <a:extLst>
              <a:ext uri="{FF2B5EF4-FFF2-40B4-BE49-F238E27FC236}">
                <a16:creationId xmlns:a16="http://schemas.microsoft.com/office/drawing/2014/main" id="{10F9E6FD-4B86-12EF-C619-E6BD0C99D5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86595" y="4045953"/>
            <a:ext cx="1202667" cy="1202667"/>
          </a:xfrm>
          <a:prstGeom prst="rect">
            <a:avLst/>
          </a:prstGeom>
        </p:spPr>
      </p:pic>
      <p:pic>
        <p:nvPicPr>
          <p:cNvPr id="50" name="Picture 49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A7DCDE80-B613-4748-DC17-6D1A8BAE729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8646" y="4062800"/>
            <a:ext cx="1202667" cy="1202667"/>
          </a:xfrm>
          <a:prstGeom prst="rect">
            <a:avLst/>
          </a:prstGeom>
        </p:spPr>
      </p:pic>
      <p:pic>
        <p:nvPicPr>
          <p:cNvPr id="52" name="Picture 51" descr="A screenshot of a graph&#10;&#10;AI-generated content may be incorrect.">
            <a:extLst>
              <a:ext uri="{FF2B5EF4-FFF2-40B4-BE49-F238E27FC236}">
                <a16:creationId xmlns:a16="http://schemas.microsoft.com/office/drawing/2014/main" id="{6E2A4762-423A-0E40-3717-F3DFF7528B6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90697" y="4062801"/>
            <a:ext cx="1202667" cy="120266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D0C3A07-D79D-275E-8139-673BB4785DE3}"/>
              </a:ext>
            </a:extLst>
          </p:cNvPr>
          <p:cNvSpPr txBox="1"/>
          <p:nvPr/>
        </p:nvSpPr>
        <p:spPr>
          <a:xfrm>
            <a:off x="1441160" y="5372549"/>
            <a:ext cx="998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       1                             2                            3                           4                            5                           6                       7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89934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17C043-3133-5D54-67C7-F070CB574DBD}"/>
              </a:ext>
            </a:extLst>
          </p:cNvPr>
          <p:cNvSpPr txBox="1"/>
          <p:nvPr/>
        </p:nvSpPr>
        <p:spPr>
          <a:xfrm>
            <a:off x="122927" y="175369"/>
            <a:ext cx="6094562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100" dirty="0"/>
              <a:t>Row Pattern Analysis:</a:t>
            </a:r>
          </a:p>
          <a:p>
            <a:r>
              <a:rPr lang="en-IL" sz="1100" dirty="0"/>
              <a:t>- Row 1: (small light circle, large gray hexagon) → (medium black circle, small black triangle) → (large gray circle, medium black square)</a:t>
            </a:r>
          </a:p>
          <a:p>
            <a:r>
              <a:rPr lang="en-IL" sz="1100" dirty="0"/>
              <a:t>- Row 2: (small black circle, medium black triangle) → (medium gray circle, large gray diamond) → (large light circle, small black hexagon)</a:t>
            </a:r>
          </a:p>
          <a:p>
            <a:r>
              <a:rPr lang="en-IL" sz="1100" dirty="0"/>
              <a:t>- Row 3: (medium gray hexagon, small black square) → (medium light hexagon, medium black hexagon) → ?</a:t>
            </a:r>
          </a:p>
          <a:p>
            <a:endParaRPr lang="en-IL" sz="1100" dirty="0"/>
          </a:p>
          <a:p>
            <a:r>
              <a:rPr lang="en-IL" sz="1100" dirty="0"/>
              <a:t>Column Pattern Analysis:</a:t>
            </a:r>
          </a:p>
          <a:p>
            <a:r>
              <a:rPr lang="en-IL" sz="1100" dirty="0"/>
              <a:t>- Column 1: Circle+hexagon → Circle+triangle → Hexagon+square</a:t>
            </a:r>
          </a:p>
          <a:p>
            <a:r>
              <a:rPr lang="en-IL" sz="1100" dirty="0"/>
              <a:t>- Column 2: Circle+triangle → Circle+diamond → Hexagon+hexagon</a:t>
            </a:r>
          </a:p>
          <a:p>
            <a:r>
              <a:rPr lang="en-IL" sz="1100" dirty="0"/>
              <a:t>- Column 3: Circle+square → Circle+hexagon → ?</a:t>
            </a:r>
          </a:p>
          <a:p>
            <a:endParaRPr lang="en-IL" sz="1100" dirty="0"/>
          </a:p>
          <a:p>
            <a:r>
              <a:rPr lang="en-IL" sz="1100" dirty="0"/>
              <a:t>Logic:</a:t>
            </a:r>
          </a:p>
          <a:p>
            <a:r>
              <a:rPr lang="en-IL" sz="1100" dirty="0"/>
              <a:t>1. Left shape pattern in Column 3: Column 3 shows circle → circle → ? The pattern suggests the left shape should change from circles to something else. Looking at other columns, when circles appear twice, they're often followed by a hexagon (as seen in Column 1's progression). The missing piece should contain a hexagon in the left shape.</a:t>
            </a:r>
          </a:p>
          <a:p>
            <a:endParaRPr lang="en-IL" sz="1100" dirty="0"/>
          </a:p>
          <a:p>
            <a:r>
              <a:rPr lang="en-IL" sz="1100" dirty="0"/>
              <a:t>2. Right shape pattern in Column 3: Column 3 shows square → hexagon → ?. There's a progression from square/diamond to hexagon to triangle. Following geometric complexity in the other columns, the next shape should be a triangle.</a:t>
            </a:r>
          </a:p>
          <a:p>
            <a:endParaRPr lang="en-IL" sz="1100" dirty="0"/>
          </a:p>
          <a:p>
            <a:r>
              <a:rPr lang="en-IL" sz="1100" dirty="0"/>
              <a:t>3. Color alternation patterns: Looking at Row 3, there's a pattern of gray+black → light+black → ?. This suggests the missing cell should have a specific color combination. The left shape should be black, and the right shape should follow the established color pattern.</a:t>
            </a:r>
          </a:p>
          <a:p>
            <a:endParaRPr lang="en-IL" sz="1100" dirty="0"/>
          </a:p>
          <a:p>
            <a:r>
              <a:rPr lang="en-IL" sz="1100" dirty="0"/>
              <a:t>4. Shape size cycling in left-side rows: All left cells for each row show a gradual increase from small to medium to large. The missing part should contain a large hexagon.</a:t>
            </a:r>
          </a:p>
          <a:p>
            <a:endParaRPr lang="en-IL" sz="1100" dirty="0"/>
          </a:p>
          <a:p>
            <a:r>
              <a:rPr lang="en-IL" sz="1100" dirty="0"/>
              <a:t>5. Color alternation patterns in the right side: Looking at each row, there's a pattern in the right side of dark gray to light black to black. This suggests the missing cell should have a specific color combination. The right shape should be dark gray.</a:t>
            </a:r>
          </a:p>
          <a:p>
            <a:endParaRPr lang="en-IL" sz="1100" dirty="0"/>
          </a:p>
          <a:p>
            <a:r>
              <a:rPr lang="en-IL" sz="1100" dirty="0"/>
              <a:t>Answer: Choice 1 - This shows a black hexagon on the left and a dark gray triangle on the right. This maintains the hexagon pattern for the left shape in Row 3, provides the triangle as a logical geometric progression, and follows the color alternation patterns established in the matrix.</a:t>
            </a:r>
          </a:p>
        </p:txBody>
      </p:sp>
    </p:spTree>
    <p:extLst>
      <p:ext uri="{BB962C8B-B14F-4D97-AF65-F5344CB8AC3E}">
        <p14:creationId xmlns:p14="http://schemas.microsoft.com/office/powerpoint/2010/main" val="3910464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EAD381-5156-EBCA-7B3C-7AEBAE276F63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OS-218</a:t>
            </a:r>
          </a:p>
          <a:p>
            <a:r>
              <a:rPr lang="en-US" dirty="0" err="1"/>
              <a:t>in_center_single_out_center_single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 4</a:t>
            </a:r>
          </a:p>
          <a:p>
            <a:r>
              <a:rPr lang="en-US" dirty="0" err="1"/>
              <a:t>llm</a:t>
            </a:r>
            <a:r>
              <a:rPr lang="en-US" dirty="0"/>
              <a:t> pred:</a:t>
            </a:r>
            <a:r>
              <a:rPr lang="he-IL" dirty="0"/>
              <a:t> 4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4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0225BE-7C74-BCD9-9FBC-E3A4B666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134" y="0"/>
            <a:ext cx="5082888" cy="51410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01479A-A8EE-AA6A-9FC8-7CA0ED5FC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774" y="5141091"/>
            <a:ext cx="10550150" cy="161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78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66FA4B94-5E78-B7C9-E684-3462CD601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381" y="36702"/>
            <a:ext cx="959775" cy="335235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C22D3EED-A85A-D1F7-8CAE-7A33253C30DB}"/>
              </a:ext>
            </a:extLst>
          </p:cNvPr>
          <p:cNvGrpSpPr/>
          <p:nvPr/>
        </p:nvGrpSpPr>
        <p:grpSpPr>
          <a:xfrm>
            <a:off x="4417683" y="146617"/>
            <a:ext cx="3354717" cy="3674885"/>
            <a:chOff x="4417683" y="146617"/>
            <a:chExt cx="3873883" cy="3895098"/>
          </a:xfrm>
        </p:grpSpPr>
        <p:pic>
          <p:nvPicPr>
            <p:cNvPr id="4" name="Picture 3" descr="A blue and yellow square with a black square in the middle&#10;&#10;AI-generated content may be incorrect.">
              <a:extLst>
                <a:ext uri="{FF2B5EF4-FFF2-40B4-BE49-F238E27FC236}">
                  <a16:creationId xmlns:a16="http://schemas.microsoft.com/office/drawing/2014/main" id="{9E846725-8588-A60A-CD6E-40CD01A18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7683" y="146617"/>
              <a:ext cx="1225430" cy="1225430"/>
            </a:xfrm>
            <a:prstGeom prst="rect">
              <a:avLst/>
            </a:prstGeom>
          </p:spPr>
        </p:pic>
        <p:pic>
          <p:nvPicPr>
            <p:cNvPr id="8" name="Picture 7" descr="A colorful image of a hexagon&#10;&#10;AI-generated content may be incorrect.">
              <a:extLst>
                <a:ext uri="{FF2B5EF4-FFF2-40B4-BE49-F238E27FC236}">
                  <a16:creationId xmlns:a16="http://schemas.microsoft.com/office/drawing/2014/main" id="{43A662DF-012C-02B3-2D59-BB61F9351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73707" y="171570"/>
              <a:ext cx="1225430" cy="1225430"/>
            </a:xfrm>
            <a:prstGeom prst="rect">
              <a:avLst/>
            </a:prstGeom>
          </p:spPr>
        </p:pic>
        <p:pic>
          <p:nvPicPr>
            <p:cNvPr id="12" name="Picture 11" descr="A colorful image of a hexagon&#10;&#10;AI-generated content may be incorrect.">
              <a:extLst>
                <a:ext uri="{FF2B5EF4-FFF2-40B4-BE49-F238E27FC236}">
                  <a16:creationId xmlns:a16="http://schemas.microsoft.com/office/drawing/2014/main" id="{8376922F-C30C-C34B-99BE-966DC3FCB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66136" y="171570"/>
              <a:ext cx="1225430" cy="1225430"/>
            </a:xfrm>
            <a:prstGeom prst="rect">
              <a:avLst/>
            </a:prstGeom>
          </p:spPr>
        </p:pic>
        <p:pic>
          <p:nvPicPr>
            <p:cNvPr id="16" name="Picture 15" descr="A blue and yellow hexagon with black lines&#10;&#10;AI-generated content may be incorrect.">
              <a:extLst>
                <a:ext uri="{FF2B5EF4-FFF2-40B4-BE49-F238E27FC236}">
                  <a16:creationId xmlns:a16="http://schemas.microsoft.com/office/drawing/2014/main" id="{35811E15-2A56-7F42-82DD-92F5160C3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79864" y="1444983"/>
              <a:ext cx="1225430" cy="1225430"/>
            </a:xfrm>
            <a:prstGeom prst="rect">
              <a:avLst/>
            </a:prstGeom>
          </p:spPr>
        </p:pic>
        <p:pic>
          <p:nvPicPr>
            <p:cNvPr id="20" name="Picture 19" descr="A blue and yellow hexagon with a black line&#10;&#10;AI-generated content may be incorrect.">
              <a:extLst>
                <a:ext uri="{FF2B5EF4-FFF2-40B4-BE49-F238E27FC236}">
                  <a16:creationId xmlns:a16="http://schemas.microsoft.com/office/drawing/2014/main" id="{CE945AF0-C031-0265-3A0B-D987F8ABA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73707" y="1444983"/>
              <a:ext cx="1225430" cy="1225430"/>
            </a:xfrm>
            <a:prstGeom prst="rect">
              <a:avLst/>
            </a:prstGeom>
          </p:spPr>
        </p:pic>
        <p:pic>
          <p:nvPicPr>
            <p:cNvPr id="24" name="Picture 23" descr="A colorful hexagon with black lines&#10;&#10;AI-generated content may be incorrect.">
              <a:extLst>
                <a:ext uri="{FF2B5EF4-FFF2-40B4-BE49-F238E27FC236}">
                  <a16:creationId xmlns:a16="http://schemas.microsoft.com/office/drawing/2014/main" id="{9CA1C4CA-50B6-F52B-41BA-51B3230A8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66136" y="1444983"/>
              <a:ext cx="1225430" cy="1225430"/>
            </a:xfrm>
            <a:prstGeom prst="rect">
              <a:avLst/>
            </a:prstGeom>
          </p:spPr>
        </p:pic>
        <p:pic>
          <p:nvPicPr>
            <p:cNvPr id="28" name="Picture 27" descr="A hexagon with a blue and yellow hexagon&#10;&#10;AI-generated content may be incorrect.">
              <a:extLst>
                <a:ext uri="{FF2B5EF4-FFF2-40B4-BE49-F238E27FC236}">
                  <a16:creationId xmlns:a16="http://schemas.microsoft.com/office/drawing/2014/main" id="{BC2EDDEE-4DCC-CA1E-F336-274EF3D52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95320" y="2816285"/>
              <a:ext cx="1225430" cy="1225430"/>
            </a:xfrm>
            <a:prstGeom prst="rect">
              <a:avLst/>
            </a:prstGeom>
          </p:spPr>
        </p:pic>
        <p:pic>
          <p:nvPicPr>
            <p:cNvPr id="32" name="Picture 31" descr="A hexagon with a blue and yellow center&#10;&#10;AI-generated content may be incorrect.">
              <a:extLst>
                <a:ext uri="{FF2B5EF4-FFF2-40B4-BE49-F238E27FC236}">
                  <a16:creationId xmlns:a16="http://schemas.microsoft.com/office/drawing/2014/main" id="{4A0CB6A9-CDB7-C3B1-08AE-A2451A199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97909" y="2816285"/>
              <a:ext cx="1225430" cy="1225430"/>
            </a:xfrm>
            <a:prstGeom prst="rect">
              <a:avLst/>
            </a:prstGeom>
          </p:spPr>
        </p:pic>
      </p:grpSp>
      <p:pic>
        <p:nvPicPr>
          <p:cNvPr id="38" name="Picture 37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D5013FF1-7169-8624-CBCF-E53AEF028B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0" y="4286737"/>
            <a:ext cx="1414885" cy="1414885"/>
          </a:xfrm>
          <a:prstGeom prst="rect">
            <a:avLst/>
          </a:prstGeom>
        </p:spPr>
      </p:pic>
      <p:pic>
        <p:nvPicPr>
          <p:cNvPr id="40" name="Picture 39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117CC41E-88AC-F5F9-50E5-3A7B1396A8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3913" y="4295072"/>
            <a:ext cx="1414885" cy="1414885"/>
          </a:xfrm>
          <a:prstGeom prst="rect">
            <a:avLst/>
          </a:prstGeom>
        </p:spPr>
      </p:pic>
      <p:pic>
        <p:nvPicPr>
          <p:cNvPr id="42" name="Picture 41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B2B504C7-F761-98DE-ECDE-9A64F41E26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3351" y="4286738"/>
            <a:ext cx="1414885" cy="1414885"/>
          </a:xfrm>
          <a:prstGeom prst="rect">
            <a:avLst/>
          </a:prstGeom>
        </p:spPr>
      </p:pic>
      <p:pic>
        <p:nvPicPr>
          <p:cNvPr id="44" name="Picture 43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062D97F2-9DAD-7C9F-F541-6B0CC3DA9B7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4915" y="4286738"/>
            <a:ext cx="1414885" cy="1414885"/>
          </a:xfrm>
          <a:prstGeom prst="rect">
            <a:avLst/>
          </a:prstGeom>
        </p:spPr>
      </p:pic>
      <p:pic>
        <p:nvPicPr>
          <p:cNvPr id="46" name="Picture 45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AA03CE85-7DA8-D276-D925-ED8484A2B5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66694" y="4269596"/>
            <a:ext cx="1414885" cy="1414885"/>
          </a:xfrm>
          <a:prstGeom prst="rect">
            <a:avLst/>
          </a:prstGeom>
        </p:spPr>
      </p:pic>
      <p:pic>
        <p:nvPicPr>
          <p:cNvPr id="48" name="Picture 47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1E3FC554-5CEC-DCAC-D337-3CB7FC20E79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44366" y="4269596"/>
            <a:ext cx="1414885" cy="1414885"/>
          </a:xfrm>
          <a:prstGeom prst="rect">
            <a:avLst/>
          </a:prstGeom>
        </p:spPr>
      </p:pic>
      <p:pic>
        <p:nvPicPr>
          <p:cNvPr id="50" name="Picture 49" descr="A colorful hexagon with a triangle&#10;&#10;AI-generated content may be incorrect.">
            <a:extLst>
              <a:ext uri="{FF2B5EF4-FFF2-40B4-BE49-F238E27FC236}">
                <a16:creationId xmlns:a16="http://schemas.microsoft.com/office/drawing/2014/main" id="{7C5936D4-7C7A-2537-277B-24F18CB9F21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63804" y="4269596"/>
            <a:ext cx="1414885" cy="1414885"/>
          </a:xfrm>
          <a:prstGeom prst="rect">
            <a:avLst/>
          </a:prstGeom>
        </p:spPr>
      </p:pic>
      <p:pic>
        <p:nvPicPr>
          <p:cNvPr id="52" name="Picture 51" descr="A colorful hexagon with a blue square&#10;&#10;AI-generated content may be incorrect.">
            <a:extLst>
              <a:ext uri="{FF2B5EF4-FFF2-40B4-BE49-F238E27FC236}">
                <a16:creationId xmlns:a16="http://schemas.microsoft.com/office/drawing/2014/main" id="{F66E12EA-8DF7-1060-E8B9-6B41E87F7D2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82053" y="4269596"/>
            <a:ext cx="1414885" cy="141488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88A3196-AF79-0BEE-E16E-583B18B622A7}"/>
              </a:ext>
            </a:extLst>
          </p:cNvPr>
          <p:cNvSpPr txBox="1"/>
          <p:nvPr/>
        </p:nvSpPr>
        <p:spPr>
          <a:xfrm>
            <a:off x="647531" y="5780385"/>
            <a:ext cx="1081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        1                              2                            3                           4                            5                                6                                  7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13107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1DEE54-D5E6-2B31-FE08-9252B38F8F5B}"/>
              </a:ext>
            </a:extLst>
          </p:cNvPr>
          <p:cNvSpPr txBox="1"/>
          <p:nvPr/>
        </p:nvSpPr>
        <p:spPr>
          <a:xfrm>
            <a:off x="157432" y="151179"/>
            <a:ext cx="609456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200" dirty="0"/>
              <a:t>Row Pattern Analysis:</a:t>
            </a:r>
          </a:p>
          <a:p>
            <a:r>
              <a:rPr lang="en-IL" sz="1200" dirty="0"/>
              <a:t>- Row 1: Square frame+diamond → Square frame+hexagon → Square frame+pentagon</a:t>
            </a:r>
          </a:p>
          <a:p>
            <a:r>
              <a:rPr lang="en-IL" sz="1200" dirty="0"/>
              <a:t>- Row 2: Pentagon frame+pentagon → Pentagon frame+diamond → Pentagon frame+hexagon  </a:t>
            </a:r>
          </a:p>
          <a:p>
            <a:r>
              <a:rPr lang="en-IL" sz="1200" dirty="0"/>
              <a:t>- Row 3: Hexagon frame+hexagon → Hexagon frame+pentagon → ?</a:t>
            </a:r>
          </a:p>
          <a:p>
            <a:endParaRPr lang="en-IL" sz="1200" dirty="0"/>
          </a:p>
          <a:p>
            <a:r>
              <a:rPr lang="en-IL" sz="1200" dirty="0"/>
              <a:t>Column Pattern Analysis:</a:t>
            </a:r>
          </a:p>
          <a:p>
            <a:r>
              <a:rPr lang="en-IL" sz="1200" dirty="0"/>
              <a:t>- Column 1: Square+diamond → Pentagon+pentagon → Hexagon+hexagon</a:t>
            </a:r>
          </a:p>
          <a:p>
            <a:r>
              <a:rPr lang="en-IL" sz="1200" dirty="0"/>
              <a:t>- Column 2: Square+hexagon → Pentagon+diamond → Hexagon+pentagon</a:t>
            </a:r>
          </a:p>
          <a:p>
            <a:r>
              <a:rPr lang="en-IL" sz="1200" dirty="0"/>
              <a:t>- Column 3: Square+pentagon → Pentagon+hexagon → ?</a:t>
            </a:r>
          </a:p>
          <a:p>
            <a:endParaRPr lang="en-IL" sz="1200" dirty="0"/>
          </a:p>
          <a:p>
            <a:r>
              <a:rPr lang="en-IL" sz="1200" dirty="0"/>
              <a:t>Logic:</a:t>
            </a:r>
          </a:p>
          <a:p>
            <a:r>
              <a:rPr lang="en-IL" sz="1200" dirty="0"/>
              <a:t>1. Outer shape consistency within rows: Each row maintains the same outer frame shape throughout with the same size. Row 1 uses square frames, Row 2 uses pentagon frames, Row 3 uses hexagon frames. The missing piece must have a hexagon as the outer frame with the exact size of the shapes in Row 3.</a:t>
            </a:r>
          </a:p>
          <a:p>
            <a:endParaRPr lang="en-IL" sz="1200" dirty="0"/>
          </a:p>
          <a:p>
            <a:r>
              <a:rPr lang="en-IL" sz="1200" dirty="0"/>
              <a:t>2. Inner shape progression in Column 3: Column 3 shows pentagon → hexagon → ? Following the geometric progression in the columns (5 sides → 6 sides → 4 sides), the next logical shape would be a square (4 sides) to complete a cycle of basic polygons in the other columns.</a:t>
            </a:r>
          </a:p>
          <a:p>
            <a:endParaRPr lang="en-IL" sz="1200" dirty="0"/>
          </a:p>
          <a:p>
            <a:r>
              <a:rPr lang="en-IL" sz="1200" dirty="0"/>
              <a:t>3. Color pattern in Row 3: Row 3 shows gray hexagon inside → light pentagon inside → ? The color alternates between gray and light. Following this pattern, the inner shape should be gray to continue the alternation as seen in Choices 0, 4, 5.</a:t>
            </a:r>
          </a:p>
          <a:p>
            <a:endParaRPr lang="en-IL" sz="1200" dirty="0"/>
          </a:p>
          <a:p>
            <a:r>
              <a:rPr lang="en-IL" sz="1200" dirty="0"/>
              <a:t>4. Inner shape pattern within columns: Each column has 2 inner shapes of the same size. In column 1, the inner shapes in rows 1 and 3 are the same size. In column 2, the inner shapes in columns 1 and 2 are the same size. Therefore, the missing piece must contain an inner shape of the same size as one of the 2 shapes in rows 1 or 2.</a:t>
            </a:r>
          </a:p>
          <a:p>
            <a:r>
              <a:rPr lang="en-IL" sz="1200" dirty="0"/>
              <a:t>Choice 4 meets this requirement.</a:t>
            </a:r>
          </a:p>
          <a:p>
            <a:endParaRPr lang="en-IL" sz="1200" dirty="0"/>
          </a:p>
          <a:p>
            <a:r>
              <a:rPr lang="en-IL" sz="1200" dirty="0"/>
              <a:t>Answer: Choice 4 - This shows a hexagon outer frame with a gray square inside. This maintains the hexagon outer shape for Row 3, follows the color alternation pattern (gray inner shape), and completes the geometric progression.</a:t>
            </a:r>
          </a:p>
        </p:txBody>
      </p:sp>
    </p:spTree>
    <p:extLst>
      <p:ext uri="{BB962C8B-B14F-4D97-AF65-F5344CB8AC3E}">
        <p14:creationId xmlns:p14="http://schemas.microsoft.com/office/powerpoint/2010/main" val="368377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CB023-20CB-BC0C-C1EC-026739CE9F47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OS-429</a:t>
            </a:r>
          </a:p>
          <a:p>
            <a:r>
              <a:rPr lang="en-US" dirty="0" err="1"/>
              <a:t>up_center_single_down_center_single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 7</a:t>
            </a:r>
          </a:p>
          <a:p>
            <a:r>
              <a:rPr lang="en-US" dirty="0" err="1"/>
              <a:t>llm</a:t>
            </a:r>
            <a:r>
              <a:rPr lang="en-US" dirty="0"/>
              <a:t> pred:</a:t>
            </a:r>
            <a:r>
              <a:rPr lang="he-IL" dirty="0"/>
              <a:t> 6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6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3E5A2F-EB13-63EB-AA4B-4A02364E3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140" y="0"/>
            <a:ext cx="5141195" cy="52790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68E293-37D7-4B3A-E70E-108CDF749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553" y="5279081"/>
            <a:ext cx="9455074" cy="150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34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8266C2B6-D171-9589-CBFA-9863BE533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209" y="0"/>
            <a:ext cx="1091029" cy="364628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CD21F7D4-2003-FF86-B1D3-22B72089523A}"/>
              </a:ext>
            </a:extLst>
          </p:cNvPr>
          <p:cNvGrpSpPr/>
          <p:nvPr/>
        </p:nvGrpSpPr>
        <p:grpSpPr>
          <a:xfrm>
            <a:off x="4513771" y="180673"/>
            <a:ext cx="3543289" cy="3554565"/>
            <a:chOff x="4513771" y="180673"/>
            <a:chExt cx="3543289" cy="3554565"/>
          </a:xfrm>
        </p:grpSpPr>
        <p:pic>
          <p:nvPicPr>
            <p:cNvPr id="4" name="Picture 3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B2365BA1-A825-B948-DEF3-DB3D796A4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1200" y="197929"/>
              <a:ext cx="1121913" cy="1121913"/>
            </a:xfrm>
            <a:prstGeom prst="rect">
              <a:avLst/>
            </a:prstGeom>
          </p:spPr>
        </p:pic>
        <p:pic>
          <p:nvPicPr>
            <p:cNvPr id="8" name="Picture 7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50C0C01-2AA3-E62E-9C4C-46286BB67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28899" y="180673"/>
              <a:ext cx="1121913" cy="1121913"/>
            </a:xfrm>
            <a:prstGeom prst="rect">
              <a:avLst/>
            </a:prstGeom>
          </p:spPr>
        </p:pic>
        <p:pic>
          <p:nvPicPr>
            <p:cNvPr id="12" name="Picture 11" descr="A blue and black hexagon&#10;&#10;AI-generated content may be incorrect.">
              <a:extLst>
                <a:ext uri="{FF2B5EF4-FFF2-40B4-BE49-F238E27FC236}">
                  <a16:creationId xmlns:a16="http://schemas.microsoft.com/office/drawing/2014/main" id="{D6F9A18E-150B-F196-21F1-03B31466A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35147" y="197929"/>
              <a:ext cx="1121913" cy="1121913"/>
            </a:xfrm>
            <a:prstGeom prst="rect">
              <a:avLst/>
            </a:prstGeom>
          </p:spPr>
        </p:pic>
        <p:pic>
          <p:nvPicPr>
            <p:cNvPr id="16" name="Picture 15" descr="A blue and yellow squares&#10;&#10;AI-generated content may be incorrect.">
              <a:extLst>
                <a:ext uri="{FF2B5EF4-FFF2-40B4-BE49-F238E27FC236}">
                  <a16:creationId xmlns:a16="http://schemas.microsoft.com/office/drawing/2014/main" id="{1DD190C3-A6C3-1730-3CE3-FA9D65419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13771" y="1396998"/>
              <a:ext cx="1121913" cy="1121913"/>
            </a:xfrm>
            <a:prstGeom prst="rect">
              <a:avLst/>
            </a:prstGeom>
          </p:spPr>
        </p:pic>
        <p:pic>
          <p:nvPicPr>
            <p:cNvPr id="20" name="Picture 19" descr="A blue and yellow squares&#10;&#10;AI-generated content may be incorrect.">
              <a:extLst>
                <a:ext uri="{FF2B5EF4-FFF2-40B4-BE49-F238E27FC236}">
                  <a16:creationId xmlns:a16="http://schemas.microsoft.com/office/drawing/2014/main" id="{76130893-DA98-0FD1-FBBC-7939024F5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28899" y="1396999"/>
              <a:ext cx="1121913" cy="1121913"/>
            </a:xfrm>
            <a:prstGeom prst="rect">
              <a:avLst/>
            </a:prstGeom>
          </p:spPr>
        </p:pic>
        <p:pic>
          <p:nvPicPr>
            <p:cNvPr id="24" name="Picture 23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DFA0701-5FE3-097D-A6A9-75CF64A96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5147" y="1425848"/>
              <a:ext cx="1121913" cy="1121913"/>
            </a:xfrm>
            <a:prstGeom prst="rect">
              <a:avLst/>
            </a:prstGeom>
          </p:spPr>
        </p:pic>
        <p:pic>
          <p:nvPicPr>
            <p:cNvPr id="28" name="Picture 27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8DD19D45-2023-1BC2-BCD2-7D637BF4D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21200" y="2613325"/>
              <a:ext cx="1121913" cy="1121913"/>
            </a:xfrm>
            <a:prstGeom prst="rect">
              <a:avLst/>
            </a:prstGeom>
          </p:spPr>
        </p:pic>
        <p:pic>
          <p:nvPicPr>
            <p:cNvPr id="32" name="Picture 31" descr="A blue and yellow squares&#10;&#10;AI-generated content may be incorrect.">
              <a:extLst>
                <a:ext uri="{FF2B5EF4-FFF2-40B4-BE49-F238E27FC236}">
                  <a16:creationId xmlns:a16="http://schemas.microsoft.com/office/drawing/2014/main" id="{DA9A64AB-E8D8-4F34-6072-6E3092B62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28899" y="2613325"/>
              <a:ext cx="1121913" cy="1121913"/>
            </a:xfrm>
            <a:prstGeom prst="rect">
              <a:avLst/>
            </a:prstGeom>
          </p:spPr>
        </p:pic>
      </p:grpSp>
      <p:pic>
        <p:nvPicPr>
          <p:cNvPr id="38" name="Picture 37" descr="A blue circle and a blue square&#10;&#10;AI-generated content may be incorrect.">
            <a:extLst>
              <a:ext uri="{FF2B5EF4-FFF2-40B4-BE49-F238E27FC236}">
                <a16:creationId xmlns:a16="http://schemas.microsoft.com/office/drawing/2014/main" id="{C0638A6F-F1DE-79F6-FED2-B322ABC9C9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982" y="4226463"/>
            <a:ext cx="1277189" cy="1277189"/>
          </a:xfrm>
          <a:prstGeom prst="rect">
            <a:avLst/>
          </a:prstGeom>
        </p:spPr>
      </p:pic>
      <p:pic>
        <p:nvPicPr>
          <p:cNvPr id="40" name="Picture 39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1C937D4E-08D5-8ECD-C7AA-57E7B92179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09642" y="4226463"/>
            <a:ext cx="1277189" cy="1277189"/>
          </a:xfrm>
          <a:prstGeom prst="rect">
            <a:avLst/>
          </a:prstGeom>
        </p:spPr>
      </p:pic>
      <p:pic>
        <p:nvPicPr>
          <p:cNvPr id="42" name="Picture 41" descr="A colorful image of a hexagon and a hexagon&#10;&#10;AI-generated content may be incorrect.">
            <a:extLst>
              <a:ext uri="{FF2B5EF4-FFF2-40B4-BE49-F238E27FC236}">
                <a16:creationId xmlns:a16="http://schemas.microsoft.com/office/drawing/2014/main" id="{87A73236-53E7-D268-C62D-B8DCD09AD9A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7538" y="4226464"/>
            <a:ext cx="1277189" cy="1277189"/>
          </a:xfrm>
          <a:prstGeom prst="rect">
            <a:avLst/>
          </a:prstGeom>
        </p:spPr>
      </p:pic>
      <p:pic>
        <p:nvPicPr>
          <p:cNvPr id="44" name="Picture 4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08B2ED9D-B9DE-511A-E436-BB5AF1EFDF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5434" y="4226465"/>
            <a:ext cx="1277189" cy="1277189"/>
          </a:xfrm>
          <a:prstGeom prst="rect">
            <a:avLst/>
          </a:prstGeom>
        </p:spPr>
      </p:pic>
      <p:pic>
        <p:nvPicPr>
          <p:cNvPr id="46" name="Picture 4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4CBD279-9864-29F3-9BE1-D13BB3CFB7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7034" y="4226465"/>
            <a:ext cx="1277189" cy="1277189"/>
          </a:xfrm>
          <a:prstGeom prst="rect">
            <a:avLst/>
          </a:prstGeom>
        </p:spPr>
      </p:pic>
      <p:pic>
        <p:nvPicPr>
          <p:cNvPr id="48" name="Picture 47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9DD0A54E-F579-9231-39C1-CE0396A35BB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28634" y="4229194"/>
            <a:ext cx="1277189" cy="1277189"/>
          </a:xfrm>
          <a:prstGeom prst="rect">
            <a:avLst/>
          </a:prstGeom>
        </p:spPr>
      </p:pic>
      <p:pic>
        <p:nvPicPr>
          <p:cNvPr id="50" name="Picture 49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5392A3CC-1BA0-0A9E-6B04-4EB3E146C20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00234" y="4226465"/>
            <a:ext cx="1277189" cy="1277189"/>
          </a:xfrm>
          <a:prstGeom prst="rect">
            <a:avLst/>
          </a:prstGeom>
        </p:spPr>
      </p:pic>
      <p:pic>
        <p:nvPicPr>
          <p:cNvPr id="52" name="Picture 51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B3FA5F90-DE81-90A0-583C-919FA27B141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71834" y="4226465"/>
            <a:ext cx="1277189" cy="127718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A8AFC7C-D25C-F0A5-E1D9-0F06F74132D1}"/>
              </a:ext>
            </a:extLst>
          </p:cNvPr>
          <p:cNvSpPr txBox="1"/>
          <p:nvPr/>
        </p:nvSpPr>
        <p:spPr>
          <a:xfrm>
            <a:off x="1368848" y="5625546"/>
            <a:ext cx="998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         1                         2                            3                           4                            5                           6                           7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79167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597DD8-C1E0-EA7D-9F23-CCA7DB267D09}"/>
              </a:ext>
            </a:extLst>
          </p:cNvPr>
          <p:cNvSpPr txBox="1"/>
          <p:nvPr/>
        </p:nvSpPr>
        <p:spPr>
          <a:xfrm>
            <a:off x="188650" y="0"/>
            <a:ext cx="6094520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200" dirty="0"/>
              <a:t>Row Analysis:</a:t>
            </a:r>
          </a:p>
          <a:p>
            <a:r>
              <a:rPr lang="en-IL" sz="1200" dirty="0"/>
              <a:t>Row 1: Top shapes progress from dark gray pentagon → light gray pentagon → very light gray pentagon (getting lighter)</a:t>
            </a:r>
          </a:p>
          <a:p>
            <a:r>
              <a:rPr lang="en-IL" sz="1200" dirty="0"/>
              <a:t>Row 1: Bottom shapes progress from black hexagon → black pentagon → black diamond (changing shape, staying black)</a:t>
            </a:r>
          </a:p>
          <a:p>
            <a:r>
              <a:rPr lang="en-IL" sz="1200" dirty="0"/>
              <a:t>Row 2: Top shapes progress from light black diamond → llight black diamond → white diamond</a:t>
            </a:r>
          </a:p>
          <a:p>
            <a:r>
              <a:rPr lang="en-IL" sz="1200" dirty="0"/>
              <a:t>Row 2: Bottom shapes progress from black square → light black hexagon → dark gray pentagon (changing shape and color)</a:t>
            </a:r>
          </a:p>
          <a:p>
            <a:r>
              <a:rPr lang="en-IL" sz="1200" dirty="0"/>
              <a:t>Row 3: Top shapes are gray diamonds (consistent)</a:t>
            </a:r>
          </a:p>
          <a:p>
            <a:r>
              <a:rPr lang="en-IL" sz="1200" dirty="0"/>
              <a:t>Row 3: Bottom shapes progress from black pentagon → light black square → ?</a:t>
            </a:r>
          </a:p>
          <a:p>
            <a:endParaRPr lang="en-IL" sz="1200" dirty="0"/>
          </a:p>
          <a:p>
            <a:r>
              <a:rPr lang="en-IL" sz="1200" dirty="0"/>
              <a:t>Column Analysis:</a:t>
            </a:r>
          </a:p>
          <a:p>
            <a:r>
              <a:rPr lang="en-IL" sz="1200" dirty="0"/>
              <a:t>Column 1: Bottom shapes are hexagon → square → pentagon </a:t>
            </a:r>
          </a:p>
          <a:p>
            <a:r>
              <a:rPr lang="en-IL" sz="1200" dirty="0"/>
              <a:t>Column 2: Bottom shapes are pentagon → hexagon → square </a:t>
            </a:r>
          </a:p>
          <a:p>
            <a:r>
              <a:rPr lang="en-IL" sz="1200" dirty="0"/>
              <a:t>Column 3: Bottom shapes are diamond → pentagon → ? (pattern suggests continuation)</a:t>
            </a:r>
          </a:p>
          <a:p>
            <a:endParaRPr lang="en-IL" sz="1200" dirty="0"/>
          </a:p>
          <a:p>
            <a:r>
              <a:rPr lang="en-IL" sz="1200" dirty="0"/>
              <a:t>Logic:</a:t>
            </a:r>
          </a:p>
          <a:p>
            <a:r>
              <a:rPr lang="en-IL" sz="1200" dirty="0"/>
              <a:t>1. Top shapes consistency within rows: The top shapes follow color progression patterns (Rows 1-2 get lighter). The top shapes are the same shape. The top shape in the missing piece should contain a light diamond.</a:t>
            </a:r>
          </a:p>
          <a:p>
            <a:endParaRPr lang="en-IL" sz="1200" dirty="0"/>
          </a:p>
          <a:p>
            <a:r>
              <a:rPr lang="en-IL" sz="1200" dirty="0"/>
              <a:t>2. Bottom shapes consistency within rows: The bottom shapes maintain specific shape sequences within each row structure of hexagon → square → pentagon. The bottom shape in the missing piece should contain a hexagon to complete the sequence.</a:t>
            </a:r>
          </a:p>
          <a:p>
            <a:endParaRPr lang="en-IL" sz="1200" dirty="0"/>
          </a:p>
          <a:p>
            <a:r>
              <a:rPr lang="en-IL" sz="1200" dirty="0"/>
              <a:t>3. Top shapes consistency within columns: The top shapes in each column get smaller as you go down row by row. The top of the missing piece should contain a diamond that is smaller in size than the one seen at the top of row 2.</a:t>
            </a:r>
          </a:p>
          <a:p>
            <a:endParaRPr lang="en-IL" sz="1200" dirty="0"/>
          </a:p>
          <a:p>
            <a:r>
              <a:rPr lang="en-IL" sz="1200" dirty="0"/>
              <a:t>4. Bottom shapes consistency within columns: Each column has one small bottom shape and 2 larger shapes. In column 1, the bottom shapes in rows 2 and 3 are larger than those in row 1. In column 2, the bottom shapes in rows 1 and 2 are larger than those in row 3.</a:t>
            </a:r>
          </a:p>
          <a:p>
            <a:r>
              <a:rPr lang="en-IL" sz="1200" dirty="0"/>
              <a:t>The bottom missing part in column 3 should be a larger part than the one seen in row 1, so answer 6 is the most appropriate</a:t>
            </a:r>
          </a:p>
          <a:p>
            <a:endParaRPr lang="en-IL" sz="1200" dirty="0"/>
          </a:p>
          <a:p>
            <a:r>
              <a:rPr lang="en-IL" sz="1200" dirty="0"/>
              <a:t>The answer is Choice 6.</a:t>
            </a:r>
          </a:p>
        </p:txBody>
      </p:sp>
    </p:spTree>
    <p:extLst>
      <p:ext uri="{BB962C8B-B14F-4D97-AF65-F5344CB8AC3E}">
        <p14:creationId xmlns:p14="http://schemas.microsoft.com/office/powerpoint/2010/main" val="5542686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74E07F-1126-454A-9F85-1023589EF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177" y="355390"/>
            <a:ext cx="4469646" cy="4537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3A2BAC-77E8-C9E2-56DA-C2C9531D1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09" y="5066271"/>
            <a:ext cx="10388181" cy="15569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0DDC1A-5E5C-1347-BB80-8A7207B98E43}"/>
              </a:ext>
            </a:extLst>
          </p:cNvPr>
          <p:cNvSpPr txBox="1"/>
          <p:nvPr/>
        </p:nvSpPr>
        <p:spPr>
          <a:xfrm>
            <a:off x="703117" y="591400"/>
            <a:ext cx="1520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OS</a:t>
            </a:r>
            <a:r>
              <a:rPr lang="en-US" dirty="0"/>
              <a:t>-1228</a:t>
            </a:r>
          </a:p>
          <a:p>
            <a:pPr marL="0" algn="l" defTabSz="914400" eaLnBrk="1" latinLnBrk="0" hangingPunct="1"/>
            <a:r>
              <a:rPr lang="en-US" dirty="0" err="1"/>
              <a:t>center_single</a:t>
            </a:r>
            <a:endParaRPr lang="en-US" dirty="0"/>
          </a:p>
          <a:p>
            <a:pPr marL="0" algn="l" defTabSz="914400" eaLnBrk="1" latinLnBrk="0" hangingPunct="1"/>
            <a:r>
              <a:rPr lang="en-US" dirty="0" err="1"/>
              <a:t>os</a:t>
            </a:r>
            <a:r>
              <a:rPr lang="en-US" dirty="0"/>
              <a:t> pred: 1</a:t>
            </a:r>
          </a:p>
          <a:p>
            <a:pPr marL="0" algn="l" defTabSz="914400" eaLnBrk="1" latinLnBrk="0" hangingPunct="1"/>
            <a:r>
              <a:rPr lang="en-US" dirty="0" err="1"/>
              <a:t>llm</a:t>
            </a:r>
            <a:r>
              <a:rPr lang="en-US" dirty="0"/>
              <a:t> pred:</a:t>
            </a:r>
            <a:r>
              <a:rPr lang="he-IL" dirty="0"/>
              <a:t> 1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1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9040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5673E685-74FF-E24B-24EA-134F583C8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054" y="86189"/>
            <a:ext cx="1058820" cy="383330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957ED094-7B72-DC36-8EBF-B646A781CFFA}"/>
              </a:ext>
            </a:extLst>
          </p:cNvPr>
          <p:cNvGrpSpPr/>
          <p:nvPr/>
        </p:nvGrpSpPr>
        <p:grpSpPr>
          <a:xfrm>
            <a:off x="3843177" y="109138"/>
            <a:ext cx="3730815" cy="3643353"/>
            <a:chOff x="3843177" y="109138"/>
            <a:chExt cx="4845540" cy="4825648"/>
          </a:xfrm>
        </p:grpSpPr>
        <p:pic>
          <p:nvPicPr>
            <p:cNvPr id="4" name="Picture 3" descr="A blue hexagon with yellow and green circles&#10;&#10;AI-generated content may be incorrect.">
              <a:extLst>
                <a:ext uri="{FF2B5EF4-FFF2-40B4-BE49-F238E27FC236}">
                  <a16:creationId xmlns:a16="http://schemas.microsoft.com/office/drawing/2014/main" id="{3702D1FB-A2D5-A8A7-6FA2-6498E2A30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3177" y="109138"/>
              <a:ext cx="1541503" cy="1541503"/>
            </a:xfrm>
            <a:prstGeom prst="rect">
              <a:avLst/>
            </a:prstGeom>
          </p:spPr>
        </p:pic>
        <p:pic>
          <p:nvPicPr>
            <p:cNvPr id="8" name="Picture 7" descr="A blue and yellow circle&#10;&#10;AI-generated content may be incorrect.">
              <a:extLst>
                <a:ext uri="{FF2B5EF4-FFF2-40B4-BE49-F238E27FC236}">
                  <a16:creationId xmlns:a16="http://schemas.microsoft.com/office/drawing/2014/main" id="{4D539468-D73D-43DA-FC7B-F8D987516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99568" y="109139"/>
              <a:ext cx="1541503" cy="1541503"/>
            </a:xfrm>
            <a:prstGeom prst="rect">
              <a:avLst/>
            </a:prstGeom>
          </p:spPr>
        </p:pic>
        <p:pic>
          <p:nvPicPr>
            <p:cNvPr id="12" name="Picture 11" descr="A blue and yellow pixelated image of a triangle&#10;&#10;AI-generated content may be incorrect.">
              <a:extLst>
                <a:ext uri="{FF2B5EF4-FFF2-40B4-BE49-F238E27FC236}">
                  <a16:creationId xmlns:a16="http://schemas.microsoft.com/office/drawing/2014/main" id="{8A52A9BF-BEDA-F755-E95B-50CA94BE5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47214" y="109140"/>
              <a:ext cx="1541503" cy="1541503"/>
            </a:xfrm>
            <a:prstGeom prst="rect">
              <a:avLst/>
            </a:prstGeom>
          </p:spPr>
        </p:pic>
        <p:pic>
          <p:nvPicPr>
            <p:cNvPr id="16" name="Picture 15" descr="A blue circle in a square&#10;&#10;AI-generated content may be incorrect.">
              <a:extLst>
                <a:ext uri="{FF2B5EF4-FFF2-40B4-BE49-F238E27FC236}">
                  <a16:creationId xmlns:a16="http://schemas.microsoft.com/office/drawing/2014/main" id="{AB512D49-174D-3D34-7937-2BFC823DC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4546" y="1748262"/>
              <a:ext cx="1541503" cy="1541503"/>
            </a:xfrm>
            <a:prstGeom prst="rect">
              <a:avLst/>
            </a:prstGeom>
          </p:spPr>
        </p:pic>
        <p:pic>
          <p:nvPicPr>
            <p:cNvPr id="20" name="Picture 19" descr="A triangle in a square&#10;&#10;AI-generated content may be incorrect.">
              <a:extLst>
                <a:ext uri="{FF2B5EF4-FFF2-40B4-BE49-F238E27FC236}">
                  <a16:creationId xmlns:a16="http://schemas.microsoft.com/office/drawing/2014/main" id="{50917A3B-BA5B-D73D-2B27-FD3E14D9D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99568" y="1780142"/>
              <a:ext cx="1541503" cy="1541503"/>
            </a:xfrm>
            <a:prstGeom prst="rect">
              <a:avLst/>
            </a:prstGeom>
          </p:spPr>
        </p:pic>
        <p:pic>
          <p:nvPicPr>
            <p:cNvPr id="24" name="Picture 23" descr="A hexagon with a black line&#10;&#10;AI-generated content may be incorrect.">
              <a:extLst>
                <a:ext uri="{FF2B5EF4-FFF2-40B4-BE49-F238E27FC236}">
                  <a16:creationId xmlns:a16="http://schemas.microsoft.com/office/drawing/2014/main" id="{A8D7ECFD-9F1C-C165-F918-EB6BA51C7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47214" y="1780143"/>
              <a:ext cx="1541503" cy="1541503"/>
            </a:xfrm>
            <a:prstGeom prst="rect">
              <a:avLst/>
            </a:prstGeom>
          </p:spPr>
        </p:pic>
        <p:pic>
          <p:nvPicPr>
            <p:cNvPr id="28" name="Picture 27" descr="A blue triangle with yellow and green squares&#10;&#10;AI-generated content may be incorrect.">
              <a:extLst>
                <a:ext uri="{FF2B5EF4-FFF2-40B4-BE49-F238E27FC236}">
                  <a16:creationId xmlns:a16="http://schemas.microsoft.com/office/drawing/2014/main" id="{1343FCC6-C5CB-6045-AA47-AEC258C99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54546" y="3393283"/>
              <a:ext cx="1541503" cy="1541503"/>
            </a:xfrm>
            <a:prstGeom prst="rect">
              <a:avLst/>
            </a:prstGeom>
          </p:spPr>
        </p:pic>
        <p:pic>
          <p:nvPicPr>
            <p:cNvPr id="32" name="Picture 31" descr="A blue hexagon with yellow dots&#10;&#10;AI-generated content may be incorrect.">
              <a:extLst>
                <a:ext uri="{FF2B5EF4-FFF2-40B4-BE49-F238E27FC236}">
                  <a16:creationId xmlns:a16="http://schemas.microsoft.com/office/drawing/2014/main" id="{6D9AD24E-6193-4B59-2713-4FF4AB5AD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499569" y="3393283"/>
              <a:ext cx="1541503" cy="1541503"/>
            </a:xfrm>
            <a:prstGeom prst="rect">
              <a:avLst/>
            </a:prstGeom>
          </p:spPr>
        </p:pic>
      </p:grpSp>
      <p:pic>
        <p:nvPicPr>
          <p:cNvPr id="37" name="Picture 36" descr="A blue circle with yellow and green spots&#10;&#10;AI-generated content may be incorrect.">
            <a:extLst>
              <a:ext uri="{FF2B5EF4-FFF2-40B4-BE49-F238E27FC236}">
                <a16:creationId xmlns:a16="http://schemas.microsoft.com/office/drawing/2014/main" id="{AF443752-93F5-54E0-8181-1EB854B96D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900" y="4399731"/>
            <a:ext cx="1380446" cy="1380446"/>
          </a:xfrm>
          <a:prstGeom prst="rect">
            <a:avLst/>
          </a:prstGeom>
        </p:spPr>
      </p:pic>
      <p:pic>
        <p:nvPicPr>
          <p:cNvPr id="39" name="Picture 38" descr="A colorful circle in a square&#10;&#10;AI-generated content may be incorrect.">
            <a:extLst>
              <a:ext uri="{FF2B5EF4-FFF2-40B4-BE49-F238E27FC236}">
                <a16:creationId xmlns:a16="http://schemas.microsoft.com/office/drawing/2014/main" id="{FD57FFB4-FC9E-16EB-FD3E-E53557B314D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5633" y="4399731"/>
            <a:ext cx="1380446" cy="1380446"/>
          </a:xfrm>
          <a:prstGeom prst="rect">
            <a:avLst/>
          </a:prstGeom>
        </p:spPr>
      </p:pic>
      <p:pic>
        <p:nvPicPr>
          <p:cNvPr id="41" name="Picture 40" descr="A blue circle with yellow dots&#10;&#10;AI-generated content may be incorrect.">
            <a:extLst>
              <a:ext uri="{FF2B5EF4-FFF2-40B4-BE49-F238E27FC236}">
                <a16:creationId xmlns:a16="http://schemas.microsoft.com/office/drawing/2014/main" id="{68D090B3-B71D-9453-A9C6-C1698377BA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98028" y="4399731"/>
            <a:ext cx="1380446" cy="1380446"/>
          </a:xfrm>
          <a:prstGeom prst="rect">
            <a:avLst/>
          </a:prstGeom>
        </p:spPr>
      </p:pic>
      <p:pic>
        <p:nvPicPr>
          <p:cNvPr id="43" name="Picture 42" descr="A colorful image of a hexagon&#10;&#10;AI-generated content may be incorrect.">
            <a:extLst>
              <a:ext uri="{FF2B5EF4-FFF2-40B4-BE49-F238E27FC236}">
                <a16:creationId xmlns:a16="http://schemas.microsoft.com/office/drawing/2014/main" id="{459BE06C-0979-99A5-1308-84A8EFEFA8F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5410" y="4399731"/>
            <a:ext cx="1380446" cy="1380446"/>
          </a:xfrm>
          <a:prstGeom prst="rect">
            <a:avLst/>
          </a:prstGeom>
        </p:spPr>
      </p:pic>
      <p:pic>
        <p:nvPicPr>
          <p:cNvPr id="45" name="Picture 44" descr="A blue circle with yellow and red circles&#10;&#10;AI-generated content may be incorrect.">
            <a:extLst>
              <a:ext uri="{FF2B5EF4-FFF2-40B4-BE49-F238E27FC236}">
                <a16:creationId xmlns:a16="http://schemas.microsoft.com/office/drawing/2014/main" id="{7613CA31-28AC-7A10-774D-6DF7C3C81E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7805" y="4399731"/>
            <a:ext cx="1380446" cy="1380446"/>
          </a:xfrm>
          <a:prstGeom prst="rect">
            <a:avLst/>
          </a:prstGeom>
        </p:spPr>
      </p:pic>
      <p:pic>
        <p:nvPicPr>
          <p:cNvPr id="47" name="Picture 46" descr="A blue circle with yellow dots&#10;&#10;AI-generated content may be incorrect.">
            <a:extLst>
              <a:ext uri="{FF2B5EF4-FFF2-40B4-BE49-F238E27FC236}">
                <a16:creationId xmlns:a16="http://schemas.microsoft.com/office/drawing/2014/main" id="{6670E4BA-5031-9699-F85B-C807B77C1D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86231" y="4399731"/>
            <a:ext cx="1380446" cy="1380446"/>
          </a:xfrm>
          <a:prstGeom prst="rect">
            <a:avLst/>
          </a:prstGeom>
        </p:spPr>
      </p:pic>
      <p:pic>
        <p:nvPicPr>
          <p:cNvPr id="49" name="Picture 48" descr="A blue circle with yellow and green circles&#10;&#10;AI-generated content may be incorrect.">
            <a:extLst>
              <a:ext uri="{FF2B5EF4-FFF2-40B4-BE49-F238E27FC236}">
                <a16:creationId xmlns:a16="http://schemas.microsoft.com/office/drawing/2014/main" id="{1FB248A0-820D-1F2E-B3EE-253AFC60208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3613" y="4399731"/>
            <a:ext cx="1380446" cy="1380446"/>
          </a:xfrm>
          <a:prstGeom prst="rect">
            <a:avLst/>
          </a:prstGeom>
        </p:spPr>
      </p:pic>
      <p:pic>
        <p:nvPicPr>
          <p:cNvPr id="51" name="Picture 50" descr="A blue circle with yellow dots&#10;&#10;AI-generated content may be incorrect.">
            <a:extLst>
              <a:ext uri="{FF2B5EF4-FFF2-40B4-BE49-F238E27FC236}">
                <a16:creationId xmlns:a16="http://schemas.microsoft.com/office/drawing/2014/main" id="{76757EC9-AC73-469B-70A5-49954A49FB0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97931" y="4399731"/>
            <a:ext cx="1380446" cy="138044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03CAC53-A640-8358-1D62-4A3D0F4A43A6}"/>
              </a:ext>
            </a:extLst>
          </p:cNvPr>
          <p:cNvSpPr txBox="1"/>
          <p:nvPr/>
        </p:nvSpPr>
        <p:spPr>
          <a:xfrm>
            <a:off x="707916" y="5857021"/>
            <a:ext cx="1081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          1                            2                            3                              4                                 5                           6                               7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55760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742AD9-C144-8001-CA5E-765F0232C98E}"/>
              </a:ext>
            </a:extLst>
          </p:cNvPr>
          <p:cNvSpPr txBox="1"/>
          <p:nvPr/>
        </p:nvSpPr>
        <p:spPr>
          <a:xfrm>
            <a:off x="561512" y="554633"/>
            <a:ext cx="609452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400" dirty="0"/>
              <a:t>Row Analysis:</a:t>
            </a:r>
          </a:p>
          <a:p>
            <a:r>
              <a:rPr lang="en-IL" sz="1400" dirty="0"/>
              <a:t>- Row 1: Gray hexagon → Light Gray circle → White triangle </a:t>
            </a:r>
          </a:p>
          <a:p>
            <a:r>
              <a:rPr lang="en-IL" sz="1400" dirty="0"/>
              <a:t>- Row 2: Dark Gray circle → Gray triangle → Light gray hexagon </a:t>
            </a:r>
          </a:p>
          <a:p>
            <a:r>
              <a:rPr lang="en-IL" sz="1400" dirty="0"/>
              <a:t>- Row 3: Dark Gray triangle  → Gray hexagon → ?</a:t>
            </a:r>
          </a:p>
          <a:p>
            <a:endParaRPr lang="en-IL" sz="1400" dirty="0"/>
          </a:p>
          <a:p>
            <a:r>
              <a:rPr lang="en-IL" sz="1400" dirty="0"/>
              <a:t>Column Analysis:</a:t>
            </a:r>
          </a:p>
          <a:p>
            <a:r>
              <a:rPr lang="en-IL" sz="1400" dirty="0"/>
              <a:t>- Column 1: Gray hexagon → Gray circle → Gray triangle</a:t>
            </a:r>
          </a:p>
          <a:p>
            <a:r>
              <a:rPr lang="en-IL" sz="1400" dirty="0"/>
              <a:t>- Column 2: Gray circle → Gray triangle → Gray hexagon</a:t>
            </a:r>
          </a:p>
          <a:p>
            <a:r>
              <a:rPr lang="en-IL" sz="1400" dirty="0"/>
              <a:t>- Column 3: White triangle → Light gray hexagon → ?</a:t>
            </a:r>
          </a:p>
          <a:p>
            <a:endParaRPr lang="en-IL" sz="1400" dirty="0"/>
          </a:p>
          <a:p>
            <a:r>
              <a:rPr lang="en-IL" sz="1400" dirty="0"/>
              <a:t>Logic: </a:t>
            </a:r>
          </a:p>
          <a:p>
            <a:r>
              <a:rPr lang="en-IL" sz="1400" dirty="0"/>
              <a:t>1. Shape Cycling Pattern: Each row and column contains three different shapes (hexagon, circle, triangle) that appear to cycle through systematically. The missing piece should be a circle.</a:t>
            </a:r>
          </a:p>
          <a:p>
            <a:endParaRPr lang="en-IL" sz="1400" dirty="0"/>
          </a:p>
          <a:p>
            <a:r>
              <a:rPr lang="en-IL" sz="1400" dirty="0"/>
              <a:t>2. Column 3 Consistency: Column 3 shows outline/unfilled versions, so the missing piece should be an outline circle to maintain this pattern.</a:t>
            </a:r>
          </a:p>
          <a:p>
            <a:endParaRPr lang="en-IL" sz="1400" dirty="0"/>
          </a:p>
          <a:p>
            <a:r>
              <a:rPr lang="en-IL" sz="1400" dirty="0"/>
              <a:t>3. Shape size consistency within rows: For each row, there are 3 sizes, large, medium, and small. Row 3 has a triangle (large) and a hexagon (medium), the missing part should contain a circle (small)</a:t>
            </a:r>
          </a:p>
          <a:p>
            <a:endParaRPr lang="en-IL" sz="1400" dirty="0"/>
          </a:p>
          <a:p>
            <a:r>
              <a:rPr lang="en-IL" sz="1400" dirty="0"/>
              <a:t>Looking at the answer choices, Choice 1 shows a light gray circle (outline), which perfectly fits the established patterns.</a:t>
            </a:r>
          </a:p>
          <a:p>
            <a:r>
              <a:rPr lang="en-IL" sz="1400" dirty="0"/>
              <a:t>The answer is Choice 1.</a:t>
            </a:r>
          </a:p>
        </p:txBody>
      </p:sp>
    </p:spTree>
    <p:extLst>
      <p:ext uri="{BB962C8B-B14F-4D97-AF65-F5344CB8AC3E}">
        <p14:creationId xmlns:p14="http://schemas.microsoft.com/office/powerpoint/2010/main" val="3687581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37F92-9ABF-576A-8F0E-9814D7F1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51B110-47EC-AB8B-2E3A-96D45502CD85}"/>
              </a:ext>
            </a:extLst>
          </p:cNvPr>
          <p:cNvSpPr txBox="1"/>
          <p:nvPr/>
        </p:nvSpPr>
        <p:spPr>
          <a:xfrm>
            <a:off x="320056" y="344266"/>
            <a:ext cx="4350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914400" eaLnBrk="1" latinLnBrk="0" hangingPunct="1"/>
            <a:r>
              <a:rPr lang="en-US" dirty="0"/>
              <a:t>OS-6999</a:t>
            </a:r>
          </a:p>
          <a:p>
            <a:r>
              <a:rPr lang="en-US" dirty="0" err="1"/>
              <a:t>in_distribute_four_out_center_single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pred: 3</a:t>
            </a:r>
          </a:p>
          <a:p>
            <a:r>
              <a:rPr lang="en-US" dirty="0" err="1"/>
              <a:t>llm</a:t>
            </a:r>
            <a:r>
              <a:rPr lang="en-US" dirty="0"/>
              <a:t> pred:</a:t>
            </a:r>
            <a:r>
              <a:rPr lang="he-IL" dirty="0"/>
              <a:t> 0</a:t>
            </a:r>
            <a:endParaRPr lang="en-US" dirty="0"/>
          </a:p>
          <a:p>
            <a:pPr marL="0" algn="l" defTabSz="914400" eaLnBrk="1" latinLnBrk="0" hangingPunct="1"/>
            <a:r>
              <a:rPr lang="en-US" dirty="0"/>
              <a:t>true: 3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C5F3E8-C341-211C-CAA0-EBA03955D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790" y="0"/>
            <a:ext cx="4800428" cy="48551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8EB4D9-35F6-83B4-394C-66E99A36E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653" y="5107705"/>
            <a:ext cx="9184343" cy="140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88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41571-84D0-2E40-2622-53758B17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8C5F317-F026-8FC5-D208-15D58ED36E25}"/>
              </a:ext>
            </a:extLst>
          </p:cNvPr>
          <p:cNvGrpSpPr/>
          <p:nvPr/>
        </p:nvGrpSpPr>
        <p:grpSpPr>
          <a:xfrm>
            <a:off x="4212281" y="344959"/>
            <a:ext cx="3915721" cy="3883111"/>
            <a:chOff x="4212281" y="344959"/>
            <a:chExt cx="3915721" cy="3883111"/>
          </a:xfrm>
        </p:grpSpPr>
        <p:pic>
          <p:nvPicPr>
            <p:cNvPr id="3" name="Picture 2" descr="A blue and yellow background with a triangle&#10;&#10;AI-generated content may be incorrect.">
              <a:extLst>
                <a:ext uri="{FF2B5EF4-FFF2-40B4-BE49-F238E27FC236}">
                  <a16:creationId xmlns:a16="http://schemas.microsoft.com/office/drawing/2014/main" id="{C82138CE-33BE-2B77-A74F-58D2E40DB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12281" y="344959"/>
              <a:ext cx="1224692" cy="1224692"/>
            </a:xfrm>
            <a:prstGeom prst="rect">
              <a:avLst/>
            </a:prstGeom>
          </p:spPr>
        </p:pic>
        <p:pic>
          <p:nvPicPr>
            <p:cNvPr id="5" name="Picture 4" descr="A blue and yellow background with black hexagons&#10;&#10;AI-generated content may be incorrect.">
              <a:extLst>
                <a:ext uri="{FF2B5EF4-FFF2-40B4-BE49-F238E27FC236}">
                  <a16:creationId xmlns:a16="http://schemas.microsoft.com/office/drawing/2014/main" id="{E5EF8C35-64FC-2A93-5BC1-D45DE74CD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96238" y="344959"/>
              <a:ext cx="1224692" cy="1224692"/>
            </a:xfrm>
            <a:prstGeom prst="rect">
              <a:avLst/>
            </a:prstGeom>
          </p:spPr>
        </p:pic>
        <p:pic>
          <p:nvPicPr>
            <p:cNvPr id="7" name="Picture 6" descr="A blue and yellow background with black squares&#10;&#10;AI-generated content may be incorrect.">
              <a:extLst>
                <a:ext uri="{FF2B5EF4-FFF2-40B4-BE49-F238E27FC236}">
                  <a16:creationId xmlns:a16="http://schemas.microsoft.com/office/drawing/2014/main" id="{C9DE7324-3A0A-3B43-B4E6-2BE3E0A33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3310" y="344959"/>
              <a:ext cx="1224692" cy="1224692"/>
            </a:xfrm>
            <a:prstGeom prst="rect">
              <a:avLst/>
            </a:prstGeom>
          </p:spPr>
        </p:pic>
        <p:pic>
          <p:nvPicPr>
            <p:cNvPr id="9" name="Picture 8" descr="A triangle with black squares&#10;&#10;AI-generated content may be incorrect.">
              <a:extLst>
                <a:ext uri="{FF2B5EF4-FFF2-40B4-BE49-F238E27FC236}">
                  <a16:creationId xmlns:a16="http://schemas.microsoft.com/office/drawing/2014/main" id="{39D13452-DA19-9C1C-2D30-C2B3923D0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12281" y="1639329"/>
              <a:ext cx="1224692" cy="1224692"/>
            </a:xfrm>
            <a:prstGeom prst="rect">
              <a:avLst/>
            </a:prstGeom>
          </p:spPr>
        </p:pic>
        <p:pic>
          <p:nvPicPr>
            <p:cNvPr id="11" name="Picture 10" descr="A triangle with circles and dots&#10;&#10;AI-generated content may be incorrect.">
              <a:extLst>
                <a:ext uri="{FF2B5EF4-FFF2-40B4-BE49-F238E27FC236}">
                  <a16:creationId xmlns:a16="http://schemas.microsoft.com/office/drawing/2014/main" id="{C20EF511-6D37-1AA8-0D44-9681AAF0A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96238" y="1639329"/>
              <a:ext cx="1224692" cy="1224692"/>
            </a:xfrm>
            <a:prstGeom prst="rect">
              <a:avLst/>
            </a:prstGeom>
          </p:spPr>
        </p:pic>
        <p:pic>
          <p:nvPicPr>
            <p:cNvPr id="13" name="Picture 12" descr="A blue and yellow background with black hexagons&#10;&#10;AI-generated content may be incorrect.">
              <a:extLst>
                <a:ext uri="{FF2B5EF4-FFF2-40B4-BE49-F238E27FC236}">
                  <a16:creationId xmlns:a16="http://schemas.microsoft.com/office/drawing/2014/main" id="{C342B5A7-2B32-CA7A-3384-0D1F91513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96446" y="1639329"/>
              <a:ext cx="1224692" cy="1224692"/>
            </a:xfrm>
            <a:prstGeom prst="rect">
              <a:avLst/>
            </a:prstGeom>
          </p:spPr>
        </p:pic>
        <p:pic>
          <p:nvPicPr>
            <p:cNvPr id="15" name="Picture 14" descr="A blue and yellow image of a circle&#10;&#10;AI-generated content may be incorrect.">
              <a:extLst>
                <a:ext uri="{FF2B5EF4-FFF2-40B4-BE49-F238E27FC236}">
                  <a16:creationId xmlns:a16="http://schemas.microsoft.com/office/drawing/2014/main" id="{03DE14DE-7E71-90EB-19BF-06DB56FD4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12281" y="3003378"/>
              <a:ext cx="1224692" cy="1224692"/>
            </a:xfrm>
            <a:prstGeom prst="rect">
              <a:avLst/>
            </a:prstGeom>
          </p:spPr>
        </p:pic>
        <p:pic>
          <p:nvPicPr>
            <p:cNvPr id="17" name="Picture 16" descr="A blue and yellow background with black squares&#10;&#10;AI-generated content may be incorrect.">
              <a:extLst>
                <a:ext uri="{FF2B5EF4-FFF2-40B4-BE49-F238E27FC236}">
                  <a16:creationId xmlns:a16="http://schemas.microsoft.com/office/drawing/2014/main" id="{A78E7C66-5A33-0921-A976-89284BD88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96238" y="3003378"/>
              <a:ext cx="1224692" cy="1224692"/>
            </a:xfrm>
            <a:prstGeom prst="rect">
              <a:avLst/>
            </a:prstGeom>
          </p:spPr>
        </p:pic>
      </p:grpSp>
      <p:pic>
        <p:nvPicPr>
          <p:cNvPr id="20" name="Picture 19" descr="A colorful circle with dots&#10;&#10;AI-generated content may be incorrect.">
            <a:extLst>
              <a:ext uri="{FF2B5EF4-FFF2-40B4-BE49-F238E27FC236}">
                <a16:creationId xmlns:a16="http://schemas.microsoft.com/office/drawing/2014/main" id="{D580FCA4-A406-8C41-CF7B-226822FA64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28" y="4955742"/>
            <a:ext cx="1372973" cy="1372973"/>
          </a:xfrm>
          <a:prstGeom prst="rect">
            <a:avLst/>
          </a:prstGeom>
        </p:spPr>
      </p:pic>
      <p:pic>
        <p:nvPicPr>
          <p:cNvPr id="22" name="Picture 21" descr="A hexagon with circles and a blue line&#10;&#10;AI-generated content may be incorrect.">
            <a:extLst>
              <a:ext uri="{FF2B5EF4-FFF2-40B4-BE49-F238E27FC236}">
                <a16:creationId xmlns:a16="http://schemas.microsoft.com/office/drawing/2014/main" id="{9CC774AF-9F70-8298-0808-4F1FD01693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9284" y="4955743"/>
            <a:ext cx="1372973" cy="1372973"/>
          </a:xfrm>
          <a:prstGeom prst="rect">
            <a:avLst/>
          </a:prstGeom>
        </p:spPr>
      </p:pic>
      <p:pic>
        <p:nvPicPr>
          <p:cNvPr id="24" name="Picture 23" descr="A colorful circle with black circles&#10;&#10;AI-generated content may be incorrect.">
            <a:extLst>
              <a:ext uri="{FF2B5EF4-FFF2-40B4-BE49-F238E27FC236}">
                <a16:creationId xmlns:a16="http://schemas.microsoft.com/office/drawing/2014/main" id="{8299A726-4A59-17A5-8BBF-CB4D56A0FB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83467" y="4955744"/>
            <a:ext cx="1372973" cy="1372973"/>
          </a:xfrm>
          <a:prstGeom prst="rect">
            <a:avLst/>
          </a:prstGeom>
        </p:spPr>
      </p:pic>
      <p:pic>
        <p:nvPicPr>
          <p:cNvPr id="26" name="Picture 25" descr="A colorful circle with dots&#10;&#10;AI-generated content may be incorrect.">
            <a:extLst>
              <a:ext uri="{FF2B5EF4-FFF2-40B4-BE49-F238E27FC236}">
                <a16:creationId xmlns:a16="http://schemas.microsoft.com/office/drawing/2014/main" id="{92568228-663A-2E93-8013-DA7EA0FE6E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5912" y="4955745"/>
            <a:ext cx="1372973" cy="1372973"/>
          </a:xfrm>
          <a:prstGeom prst="rect">
            <a:avLst/>
          </a:prstGeom>
        </p:spPr>
      </p:pic>
      <p:pic>
        <p:nvPicPr>
          <p:cNvPr id="28" name="Picture 27" descr="A colorful image of a triangle&#10;&#10;AI-generated content may be incorrect.">
            <a:extLst>
              <a:ext uri="{FF2B5EF4-FFF2-40B4-BE49-F238E27FC236}">
                <a16:creationId xmlns:a16="http://schemas.microsoft.com/office/drawing/2014/main" id="{CE0D9811-35CB-2075-03EE-0C2816D5354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41080" y="4955745"/>
            <a:ext cx="1372973" cy="1372973"/>
          </a:xfrm>
          <a:prstGeom prst="rect">
            <a:avLst/>
          </a:prstGeom>
        </p:spPr>
      </p:pic>
      <p:pic>
        <p:nvPicPr>
          <p:cNvPr id="30" name="Picture 29" descr="A close-up of a circle&#10;&#10;AI-generated content may be incorrect.">
            <a:extLst>
              <a:ext uri="{FF2B5EF4-FFF2-40B4-BE49-F238E27FC236}">
                <a16:creationId xmlns:a16="http://schemas.microsoft.com/office/drawing/2014/main" id="{372B8359-3A0B-52D7-7628-F316994E15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36248" y="4955745"/>
            <a:ext cx="1372973" cy="1372973"/>
          </a:xfrm>
          <a:prstGeom prst="rect">
            <a:avLst/>
          </a:prstGeom>
        </p:spPr>
      </p:pic>
      <p:pic>
        <p:nvPicPr>
          <p:cNvPr id="32" name="Picture 31" descr="A colorful circle with black dots&#10;&#10;AI-generated content may be incorrect.">
            <a:extLst>
              <a:ext uri="{FF2B5EF4-FFF2-40B4-BE49-F238E27FC236}">
                <a16:creationId xmlns:a16="http://schemas.microsoft.com/office/drawing/2014/main" id="{F4940177-E569-F63D-2E3B-64B762A803A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31416" y="4958491"/>
            <a:ext cx="1372973" cy="1372973"/>
          </a:xfrm>
          <a:prstGeom prst="rect">
            <a:avLst/>
          </a:prstGeom>
        </p:spPr>
      </p:pic>
      <p:pic>
        <p:nvPicPr>
          <p:cNvPr id="34" name="Picture 33" descr="A colorful circle with circles in it&#10;&#10;AI-generated content may be incorrect.">
            <a:extLst>
              <a:ext uri="{FF2B5EF4-FFF2-40B4-BE49-F238E27FC236}">
                <a16:creationId xmlns:a16="http://schemas.microsoft.com/office/drawing/2014/main" id="{0C0B4F6D-C7F1-041E-1AEC-F791882DAE0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26584" y="4955746"/>
            <a:ext cx="1372973" cy="1372973"/>
          </a:xfrm>
          <a:prstGeom prst="rect">
            <a:avLst/>
          </a:prstGeom>
        </p:spPr>
      </p:pic>
      <p:pic>
        <p:nvPicPr>
          <p:cNvPr id="35" name="Picture 34" descr="A rainbow colored vertical bar&#10;&#10;AI-generated content may be incorrect.">
            <a:extLst>
              <a:ext uri="{FF2B5EF4-FFF2-40B4-BE49-F238E27FC236}">
                <a16:creationId xmlns:a16="http://schemas.microsoft.com/office/drawing/2014/main" id="{8870D1A1-57DE-1B7C-D678-7AD0F77C2E4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62381" y="36702"/>
            <a:ext cx="959775" cy="335235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5767A05-D985-6E66-68F4-F4DA020866B4}"/>
              </a:ext>
            </a:extLst>
          </p:cNvPr>
          <p:cNvSpPr txBox="1"/>
          <p:nvPr/>
        </p:nvSpPr>
        <p:spPr>
          <a:xfrm>
            <a:off x="647531" y="6410581"/>
            <a:ext cx="1081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eaLnBrk="1" latinLnBrk="0" hangingPunct="1"/>
            <a:r>
              <a:rPr lang="he-IL" dirty="0"/>
              <a:t>0 </a:t>
            </a:r>
            <a:r>
              <a:rPr lang="en-US" dirty="0"/>
              <a:t>                           1                              2                            3                           4                            5                                6                                  7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28631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D41FC3-A88B-7A71-DB9D-E2CA16487076}"/>
              </a:ext>
            </a:extLst>
          </p:cNvPr>
          <p:cNvSpPr txBox="1"/>
          <p:nvPr/>
        </p:nvSpPr>
        <p:spPr>
          <a:xfrm>
            <a:off x="357326" y="166568"/>
            <a:ext cx="609452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100" dirty="0"/>
              <a:t>Row Analysis:</a:t>
            </a:r>
          </a:p>
          <a:p>
            <a:r>
              <a:rPr lang="en-IL" sz="1100" dirty="0"/>
              <a:t>Row 1: All triangles as outer shapes, with inner elements progressing from circles (outline) → pentagons (filled) → squares and diamonds (filled)</a:t>
            </a:r>
          </a:p>
          <a:p>
            <a:r>
              <a:rPr lang="en-IL" sz="1100" dirty="0"/>
              <a:t>Row 2: All triangles as outer shapes, with inner elements showing diamonds (filled) → circles (outline) → pentagons (filled)</a:t>
            </a:r>
          </a:p>
          <a:p>
            <a:r>
              <a:rPr lang="en-IL" sz="1100" dirty="0"/>
              <a:t>Row 3: All circles as outer shapes, with inner elements showing pentagons (filled) → diamonds (filled) → ?</a:t>
            </a:r>
          </a:p>
          <a:p>
            <a:endParaRPr lang="en-IL" sz="1100" dirty="0"/>
          </a:p>
          <a:p>
            <a:r>
              <a:rPr lang="en-IL" sz="1100" dirty="0"/>
              <a:t>Column Analysis:</a:t>
            </a:r>
          </a:p>
          <a:p>
            <a:r>
              <a:rPr lang="en-IL" sz="1100" dirty="0"/>
              <a:t>Column 1: Triangle → Triangle → Circle (outer shapes), with circles → diamonds → pentagons (inner elements)</a:t>
            </a:r>
          </a:p>
          <a:p>
            <a:r>
              <a:rPr lang="en-IL" sz="1100" dirty="0"/>
              <a:t>Column 2: Triangle → Triangle → Circle (outer shapes), with pentagons → circles → diamonds (inner elements)</a:t>
            </a:r>
          </a:p>
          <a:p>
            <a:r>
              <a:rPr lang="en-IL" sz="1100" dirty="0"/>
              <a:t>Column 3: Triangle → Triangle → Circle (outer shapes), with squares/diamonds → pentagons → ?</a:t>
            </a:r>
          </a:p>
          <a:p>
            <a:endParaRPr lang="en-IL" sz="1100" dirty="0"/>
          </a:p>
          <a:p>
            <a:r>
              <a:rPr lang="en-IL" sz="1100" dirty="0"/>
              <a:t>Logic:</a:t>
            </a:r>
          </a:p>
          <a:p>
            <a:r>
              <a:rPr lang="en-IL" sz="1100" dirty="0"/>
              <a:t>1. Outer Shape Pattern: Each row maintains consistent outer shapes (Row 1 and 2: triangles, Row 3: circles), and columns show a transition from triangles to circles in the third row. The missing piece is a circle.</a:t>
            </a:r>
          </a:p>
          <a:p>
            <a:endParaRPr lang="en-IL" sz="1100" dirty="0"/>
          </a:p>
          <a:p>
            <a:r>
              <a:rPr lang="en-IL" sz="1100" dirty="0"/>
              <a:t>2. Inner Element Cycling: The inner shapes cycle through circles, diamonds/squares, pentagons in various fill states (outline vs filled).</a:t>
            </a:r>
          </a:p>
          <a:p>
            <a:endParaRPr lang="en-IL" sz="1100" dirty="0"/>
          </a:p>
          <a:p>
            <a:r>
              <a:rPr lang="en-IL" sz="1100" dirty="0"/>
              <a:t>3. Fill State Pattern: There's an alternating pattern between outline (unfilled) and filled shapes across the matrix.</a:t>
            </a:r>
          </a:p>
          <a:p>
            <a:r>
              <a:rPr lang="en-IL" sz="1100" dirty="0"/>
              <a:t>- All inner circles are white</a:t>
            </a:r>
          </a:p>
          <a:p>
            <a:r>
              <a:rPr lang="en-IL" sz="1100" dirty="0"/>
              <a:t>- All inner diamonds/squares are gray</a:t>
            </a:r>
          </a:p>
          <a:p>
            <a:r>
              <a:rPr lang="en-IL" sz="1100" dirty="0"/>
              <a:t>- All inner pentagons are black</a:t>
            </a:r>
          </a:p>
          <a:p>
            <a:r>
              <a:rPr lang="en-IL" sz="1100" dirty="0"/>
              <a:t>Missing piece should contain inner circles in white color</a:t>
            </a:r>
          </a:p>
          <a:p>
            <a:endParaRPr lang="en-IL" sz="1100" dirty="0"/>
          </a:p>
          <a:p>
            <a:r>
              <a:rPr lang="en-IL" sz="1100" dirty="0"/>
              <a:t>Outer shape consistency: Row 3 uses circles as containers throughout</a:t>
            </a:r>
          </a:p>
          <a:p>
            <a:r>
              <a:rPr lang="en-IL" sz="1100" dirty="0"/>
              <a:t>Inner shape cycling: The pattern suggests circles should appear in position (3,3)</a:t>
            </a:r>
          </a:p>
          <a:p>
            <a:r>
              <a:rPr lang="en-IL" sz="1100" dirty="0"/>
              <a:t>Fill state alternation: Based on the pattern, the circles should be outline/unfilled</a:t>
            </a:r>
          </a:p>
          <a:p>
            <a:r>
              <a:rPr lang="en-IL" sz="1100" dirty="0"/>
              <a:t>Systematic completion: This maintains both row and column logical sequences</a:t>
            </a:r>
          </a:p>
          <a:p>
            <a:endParaRPr lang="en-IL" sz="1100" dirty="0"/>
          </a:p>
          <a:p>
            <a:r>
              <a:rPr lang="en-IL" sz="1100" dirty="0"/>
              <a:t>Looking at the answer choices, Choice 0 shows a circle (outer shape) containing outline circles (inner elements), which perfectly fits the established patterns.</a:t>
            </a:r>
          </a:p>
          <a:p>
            <a:r>
              <a:rPr lang="en-IL" sz="1100" dirty="0"/>
              <a:t>The answer is Choice 0.</a:t>
            </a:r>
          </a:p>
        </p:txBody>
      </p:sp>
    </p:spTree>
    <p:extLst>
      <p:ext uri="{BB962C8B-B14F-4D97-AF65-F5344CB8AC3E}">
        <p14:creationId xmlns:p14="http://schemas.microsoft.com/office/powerpoint/2010/main" val="125507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4241</Words>
  <Application>Microsoft Macintosh PowerPoint</Application>
  <PresentationFormat>Widescreen</PresentationFormat>
  <Paragraphs>339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רותי כהן</dc:creator>
  <cp:lastModifiedBy>רותי כהן</cp:lastModifiedBy>
  <cp:revision>36</cp:revision>
  <dcterms:created xsi:type="dcterms:W3CDTF">2025-06-10T05:29:40Z</dcterms:created>
  <dcterms:modified xsi:type="dcterms:W3CDTF">2025-07-17T10:47:22Z</dcterms:modified>
</cp:coreProperties>
</file>